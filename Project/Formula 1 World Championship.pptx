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4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6" r:id="rId9"/>
    <p:sldId id="264" r:id="rId10"/>
    <p:sldId id="265" r:id="rId11"/>
    <p:sldId id="291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4A7DF-41D8-EF0F-0BF2-0B68AD52FC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FEE5C3-D483-F434-D9F7-4313E166C0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5ECC4E-1A6E-262B-9BFC-D26B29EBC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48E57-7BEC-4797-AA62-56805928DE25}" type="datetimeFigureOut">
              <a:rPr lang="en-IN" smtClean="0"/>
              <a:t>20-08-2026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043C4E-54A0-4FC9-70E0-61627DC9A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F7560C-E7A6-502C-63AE-460C132C5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6D384-9B52-463C-88C3-3C655473AB0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5330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77AFC-4463-3075-0044-C50812E5A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1AC15-840C-1538-A886-427C81A54E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F96260-135F-F91C-7824-0D354A236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48E57-7BEC-4797-AA62-56805928DE25}" type="datetimeFigureOut">
              <a:rPr lang="en-IN" smtClean="0"/>
              <a:t>20-08-2026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7912F9-D9C2-4DBA-C2E5-AC6402294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430786-2B34-DD20-95A0-29BCF1E5F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6D384-9B52-463C-88C3-3C655473AB0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8361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EFA5B-79AC-A922-BEA0-88A0397CC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E7C6F-30CB-11D2-A700-D5086526EC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60C285-75AD-27F3-E5AD-6C56F36CF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48E57-7BEC-4797-AA62-56805928DE25}" type="datetimeFigureOut">
              <a:rPr lang="en-IN" smtClean="0"/>
              <a:t>20-08-2026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32622A-B2CF-9F46-54AD-F1C1E9FBC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046F9C-7FAB-7E87-E4AB-9618FB23E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6D384-9B52-463C-88C3-3C655473AB0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8549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19D56-7F77-05DB-B41C-6A80B7432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78026-5759-FE2E-8C70-2A1F657D96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856F03-8DDB-079D-DB20-DDDB9D9A73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588697-9D1D-102F-B655-2BA8EC059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48E57-7BEC-4797-AA62-56805928DE25}" type="datetimeFigureOut">
              <a:rPr lang="en-IN" smtClean="0"/>
              <a:t>20-08-2026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9EEE5F-FDC0-AE51-4D29-4036A244F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5222BD-652B-689E-9670-8D61D6B6D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6D384-9B52-463C-88C3-3C655473AB0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2320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01E28-3623-D7F0-78EF-E176A3E50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5541C3-131C-C1F5-C939-155DDEC5CB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D8946C-3B97-A704-34DD-D6AA5C9127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C743F0-F659-FFCF-23BF-06E564F9EA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E16454-F857-C634-4B1D-B8B32963A8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9D8165-DE06-A6D3-3DFB-43F17ED10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48E57-7BEC-4797-AA62-56805928DE25}" type="datetimeFigureOut">
              <a:rPr lang="en-IN" smtClean="0"/>
              <a:t>20-08-2026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874B3E-1275-6F57-A02F-D2846F792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C65936-787A-0846-4D4E-FD398BC10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6D384-9B52-463C-88C3-3C655473AB0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7115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769DC-4D36-E003-E598-77A37F075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D7B7CC-5995-6DE5-DAFD-780A6A912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48E57-7BEC-4797-AA62-56805928DE25}" type="datetimeFigureOut">
              <a:rPr lang="en-IN" smtClean="0"/>
              <a:t>20-08-2026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7843ED-E7A8-F861-6660-61C70CE04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30C803-C644-69D9-41AF-5EDC74BC1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6D384-9B52-463C-88C3-3C655473AB0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8594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5BC1C5-E673-4A27-2368-706EE3A25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48E57-7BEC-4797-AA62-56805928DE25}" type="datetimeFigureOut">
              <a:rPr lang="en-IN" smtClean="0"/>
              <a:t>20-08-2026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992A8E-E329-FDCA-909B-7C803A92A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62F2C5-E4E8-BEA9-06FD-DABAB8835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6D384-9B52-463C-88C3-3C655473AB0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6351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04EBF-5BB9-4DDA-1AA2-A5A9209A9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6D043-D26E-C9D8-1576-95DF88A073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2ED12-0D1D-9431-6D26-1AED355156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4A532E-E871-C0F5-BB63-F1EFDA3E9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48E57-7BEC-4797-AA62-56805928DE25}" type="datetimeFigureOut">
              <a:rPr lang="en-IN" smtClean="0"/>
              <a:t>20-08-2026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BCF4B0-B9D3-E58E-6C18-1A6C016A3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AD5541-9769-1723-F74C-E41AAE766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6D384-9B52-463C-88C3-3C655473AB0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6372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7B740-3707-B670-366D-98C7774E8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433B2E-1AEF-C99A-5526-5C6B8080EF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F4E2A6-1446-A355-49EC-3D97CDED48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46CEFE-E532-0FD9-E3E9-8A3F5E629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48E57-7BEC-4797-AA62-56805928DE25}" type="datetimeFigureOut">
              <a:rPr lang="en-IN" smtClean="0"/>
              <a:t>20-08-2026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5314F8-E26E-BA70-DE99-88F37FE09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477B1C-C5C1-CA7C-0204-F6CF5E997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6D384-9B52-463C-88C3-3C655473AB0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8851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1BB82-A437-74EE-6C58-37503FEAA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4471B1-D8BB-011F-59CF-ED0A2BCD9D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C368D8-5EA5-DCCD-A15E-B1123F939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48E57-7BEC-4797-AA62-56805928DE25}" type="datetimeFigureOut">
              <a:rPr lang="en-IN" smtClean="0"/>
              <a:t>20-08-2026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956E1D-EE90-5457-2FC1-D7022F977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D2FA1-2CB3-389D-A3B1-C8FD9B6C4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6D384-9B52-463C-88C3-3C655473AB0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8663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85FC51-AA2B-6767-F683-FF251742B5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04A5A0-19A5-40EA-092D-7816D471B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82FC2F-44CB-2C2B-2C17-D4D8AEF38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48E57-7BEC-4797-AA62-56805928DE25}" type="datetimeFigureOut">
              <a:rPr lang="en-IN" smtClean="0"/>
              <a:t>20-08-2026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6E2A3A-734B-1E14-1DE3-DE30154D5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3546A-C2E4-1C14-02A8-7922BBC31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6D384-9B52-463C-88C3-3C655473AB0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3724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5000"/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C425E8-596D-DD72-BF17-52FF2E7DB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519591-1D37-3AAB-532F-BEFB4211F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A0A52F-8E71-2BBB-DA80-6EF60B8310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648E57-7BEC-4797-AA62-56805928DE25}" type="datetimeFigureOut">
              <a:rPr lang="en-IN" smtClean="0"/>
              <a:t>20-08-2026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AFFD2B-1765-F8E7-8411-BCBC84183E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183702-A3E3-9327-92B4-F1EBA0CDE2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36D384-9B52-463C-88C3-3C655473AB0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9534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5" r:id="rId1"/>
    <p:sldLayoutId id="2147483856" r:id="rId2"/>
    <p:sldLayoutId id="2147483857" r:id="rId3"/>
    <p:sldLayoutId id="2147483858" r:id="rId4"/>
    <p:sldLayoutId id="2147483859" r:id="rId5"/>
    <p:sldLayoutId id="2147483860" r:id="rId6"/>
    <p:sldLayoutId id="2147483861" r:id="rId7"/>
    <p:sldLayoutId id="2147483862" r:id="rId8"/>
    <p:sldLayoutId id="2147483863" r:id="rId9"/>
    <p:sldLayoutId id="2147483864" r:id="rId10"/>
    <p:sldLayoutId id="214748386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1415F-C299-4A85-C182-D92C04D26E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4129" y="521110"/>
            <a:ext cx="11592232" cy="1706639"/>
          </a:xfrm>
        </p:spPr>
        <p:txBody>
          <a:bodyPr>
            <a:noAutofit/>
          </a:bodyPr>
          <a:lstStyle/>
          <a:p>
            <a:r>
              <a:rPr lang="en-IN" sz="4400" dirty="0">
                <a:latin typeface="Georgia" panose="02040502050405020303" pitchFamily="18" charset="0"/>
                <a:cs typeface="Segoe UI" panose="020B0502040204020203" pitchFamily="34" charset="0"/>
              </a:rPr>
              <a:t>FORMULA 1 WORLD CHAMPIONSHIP </a:t>
            </a:r>
            <a:r>
              <a:rPr lang="en-IN" sz="4400" dirty="0">
                <a:latin typeface="Georgia" panose="02040502050405020303" pitchFamily="18" charset="0"/>
              </a:rPr>
              <a:t>(1950 - 2024) </a:t>
            </a:r>
            <a:r>
              <a:rPr lang="en-IN" sz="4400" dirty="0">
                <a:latin typeface="Georgia" panose="02040502050405020303" pitchFamily="18" charset="0"/>
                <a:cs typeface="Segoe UI" panose="020B0502040204020203" pitchFamily="34" charset="0"/>
              </a:rPr>
              <a:t>USING SQL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A432E6-9DD1-97F2-0BFF-9450FB7CB9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792605"/>
            <a:ext cx="9144000" cy="1272790"/>
          </a:xfrm>
        </p:spPr>
        <p:txBody>
          <a:bodyPr>
            <a:normAutofit/>
          </a:bodyPr>
          <a:lstStyle/>
          <a:p>
            <a:pPr algn="l"/>
            <a:r>
              <a:rPr lang="en-IN" sz="35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Name:- Krupa Prakash Diwani</a:t>
            </a:r>
          </a:p>
          <a:p>
            <a:pPr algn="l"/>
            <a:r>
              <a:rPr lang="en-IN" sz="35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Batch:- KL352</a:t>
            </a:r>
          </a:p>
        </p:txBody>
      </p:sp>
    </p:spTree>
    <p:extLst>
      <p:ext uri="{BB962C8B-B14F-4D97-AF65-F5344CB8AC3E}">
        <p14:creationId xmlns:p14="http://schemas.microsoft.com/office/powerpoint/2010/main" val="1282053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F210F-8C69-593A-2A35-DADF6EFA8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Georgia" panose="02040502050405020303" pitchFamily="18" charset="0"/>
                <a:cs typeface="Arial" panose="020B0604020202020204" pitchFamily="34" charset="0"/>
              </a:rPr>
              <a:t>PROJECT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38F540-C7D2-1B7C-832A-E0CDF4942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6326"/>
            <a:ext cx="10515600" cy="4546549"/>
          </a:xfrm>
        </p:spPr>
        <p:txBody>
          <a:bodyPr>
            <a:noAutofit/>
          </a:bodyPr>
          <a:lstStyle/>
          <a:p>
            <a:pPr lvl="0" algn="just"/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To analyze Formula 1 driver, constructor, race, circuit, and qualifying data using SQL. </a:t>
            </a:r>
          </a:p>
          <a:p>
            <a:pPr lvl="0" algn="just"/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To identify top-performing drivers and constructors based on race results and points. </a:t>
            </a:r>
          </a:p>
          <a:p>
            <a:pPr lvl="0" algn="just"/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To analyze qualifying performance and race outcomes to understand driver performance. </a:t>
            </a:r>
          </a:p>
          <a:p>
            <a:pPr lvl="0" algn="just"/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To study season-wise, race-wise, and circuit-wise Formula 1 trends. </a:t>
            </a:r>
          </a:p>
          <a:p>
            <a:pPr lvl="0" algn="just"/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To apply SQL concepts including DDL, DML, DQL, clauses, functions, joins, window functions, subqueries, and views. </a:t>
            </a:r>
          </a:p>
          <a:p>
            <a:pPr lvl="0" algn="just"/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To generate meaningful insights and data-driven recommendations from historical Formula 1 data.</a:t>
            </a:r>
          </a:p>
        </p:txBody>
      </p:sp>
    </p:spTree>
    <p:extLst>
      <p:ext uri="{BB962C8B-B14F-4D97-AF65-F5344CB8AC3E}">
        <p14:creationId xmlns:p14="http://schemas.microsoft.com/office/powerpoint/2010/main" val="2138232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C7BEB-D556-633E-38F6-44DA62D0A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5973"/>
            <a:ext cx="10515600" cy="1986117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en-IN" sz="4700" dirty="0">
                <a:latin typeface="Georgia" panose="02040502050405020303" pitchFamily="18" charset="0"/>
                <a:ea typeface="Roboto" panose="02000000000000000000" pitchFamily="2" charset="0"/>
                <a:cs typeface="Roboto" panose="02000000000000000000" pitchFamily="2" charset="0"/>
              </a:rPr>
              <a:t>DATASET DESIGN</a:t>
            </a:r>
            <a:br>
              <a:rPr lang="en-IN" dirty="0">
                <a:latin typeface="Georgia" panose="02040502050405020303" pitchFamily="18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IN" sz="3100" dirty="0">
                <a:latin typeface="Georgia" panose="02040502050405020303" pitchFamily="18" charset="0"/>
                <a:ea typeface="Roboto" panose="02000000000000000000" pitchFamily="2" charset="0"/>
                <a:cs typeface="Roboto" panose="02000000000000000000" pitchFamily="2" charset="0"/>
              </a:rPr>
              <a:t>DATASET NAME:- World Championship (1950-2024) dataset</a:t>
            </a:r>
            <a:br>
              <a:rPr lang="en-IN" sz="3100" dirty="0">
                <a:latin typeface="Georgia" panose="02040502050405020303" pitchFamily="18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IN" sz="3100" dirty="0">
                <a:latin typeface="Georgia" panose="02040502050405020303" pitchFamily="18" charset="0"/>
                <a:ea typeface="Roboto" panose="02000000000000000000" pitchFamily="2" charset="0"/>
                <a:cs typeface="Roboto" panose="02000000000000000000" pitchFamily="2" charset="0"/>
              </a:rPr>
              <a:t>TOTAL RECORDS:- </a:t>
            </a:r>
            <a:r>
              <a:rPr lang="en-IN" sz="3100" b="1" dirty="0"/>
              <a:t>38,650 </a:t>
            </a:r>
            <a:endParaRPr lang="en-IN" sz="31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F46F1-8C28-531D-C5B7-E0ABF922DC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964427"/>
            <a:ext cx="4353234" cy="3657600"/>
          </a:xfrm>
        </p:spPr>
        <p:txBody>
          <a:bodyPr>
            <a:noAutofit/>
          </a:bodyPr>
          <a:lstStyle/>
          <a:p>
            <a:pPr marL="0" indent="0">
              <a:lnSpc>
                <a:spcPct val="70000"/>
              </a:lnSpc>
              <a:buNone/>
            </a:pPr>
            <a:r>
              <a:rPr lang="en-IN" sz="2200" b="1" dirty="0">
                <a:latin typeface="Cambria" panose="02040503050406030204" pitchFamily="18" charset="0"/>
                <a:ea typeface="Cambria" panose="02040503050406030204" pitchFamily="18" charset="0"/>
              </a:rPr>
              <a:t>Drivers Table :-</a:t>
            </a:r>
          </a:p>
          <a:p>
            <a:pPr lvl="0">
              <a:lnSpc>
                <a:spcPct val="70000"/>
              </a:lnSpc>
            </a:pP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driverId — PRIMARY KEY </a:t>
            </a:r>
          </a:p>
          <a:p>
            <a:pPr lvl="0">
              <a:lnSpc>
                <a:spcPct val="70000"/>
              </a:lnSpc>
            </a:pP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driverRef </a:t>
            </a:r>
          </a:p>
          <a:p>
            <a:pPr lvl="0">
              <a:lnSpc>
                <a:spcPct val="70000"/>
              </a:lnSpc>
            </a:pP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number </a:t>
            </a:r>
          </a:p>
          <a:p>
            <a:pPr lvl="0">
              <a:lnSpc>
                <a:spcPct val="70000"/>
              </a:lnSpc>
            </a:pP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code </a:t>
            </a:r>
          </a:p>
          <a:p>
            <a:pPr lvl="0">
              <a:lnSpc>
                <a:spcPct val="70000"/>
              </a:lnSpc>
            </a:pP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forename </a:t>
            </a:r>
          </a:p>
          <a:p>
            <a:pPr lvl="0">
              <a:lnSpc>
                <a:spcPct val="70000"/>
              </a:lnSpc>
            </a:pP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surname </a:t>
            </a:r>
          </a:p>
          <a:p>
            <a:pPr lvl="0">
              <a:lnSpc>
                <a:spcPct val="70000"/>
              </a:lnSpc>
            </a:pP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dob </a:t>
            </a:r>
          </a:p>
          <a:p>
            <a:pPr lvl="0">
              <a:lnSpc>
                <a:spcPct val="70000"/>
              </a:lnSpc>
            </a:pP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nationality </a:t>
            </a:r>
          </a:p>
          <a:p>
            <a:pPr lvl="0">
              <a:lnSpc>
                <a:spcPct val="70000"/>
              </a:lnSpc>
            </a:pP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url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643205-7677-D8C9-90D2-E343890848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964427"/>
            <a:ext cx="5181600" cy="26006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200" b="1" dirty="0">
                <a:latin typeface="Cambria" panose="02040503050406030204" pitchFamily="18" charset="0"/>
                <a:ea typeface="Cambria" panose="02040503050406030204" pitchFamily="18" charset="0"/>
              </a:rPr>
              <a:t>Constructors Table :-</a:t>
            </a:r>
          </a:p>
          <a:p>
            <a:pPr lvl="0"/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constructorId — PRIMARY KEY </a:t>
            </a:r>
          </a:p>
          <a:p>
            <a:pPr lvl="0"/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constructorRef </a:t>
            </a:r>
          </a:p>
          <a:p>
            <a:pPr lvl="0"/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name </a:t>
            </a:r>
          </a:p>
          <a:p>
            <a:pPr lvl="0"/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nationality </a:t>
            </a:r>
          </a:p>
          <a:p>
            <a:pPr lvl="0"/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url </a:t>
            </a:r>
          </a:p>
        </p:txBody>
      </p:sp>
    </p:spTree>
    <p:extLst>
      <p:ext uri="{BB962C8B-B14F-4D97-AF65-F5344CB8AC3E}">
        <p14:creationId xmlns:p14="http://schemas.microsoft.com/office/powerpoint/2010/main" val="3077468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46601D-AF2D-54F9-E8A2-6D5924683B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816078"/>
            <a:ext cx="5181600" cy="53608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Circuits Table :-</a:t>
            </a:r>
          </a:p>
          <a:p>
            <a:pPr lvl="0"/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circuitId — PRIMARY KEY </a:t>
            </a:r>
          </a:p>
          <a:p>
            <a:pPr lvl="0"/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circuitRef </a:t>
            </a:r>
          </a:p>
          <a:p>
            <a:pPr lvl="0"/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name </a:t>
            </a:r>
          </a:p>
          <a:p>
            <a:pPr lvl="0"/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location </a:t>
            </a:r>
          </a:p>
          <a:p>
            <a:pPr lvl="0"/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country </a:t>
            </a:r>
          </a:p>
          <a:p>
            <a:pPr lvl="0"/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lat </a:t>
            </a:r>
          </a:p>
          <a:p>
            <a:pPr lvl="0"/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lng </a:t>
            </a:r>
          </a:p>
          <a:p>
            <a:pPr lvl="0"/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alt </a:t>
            </a:r>
          </a:p>
          <a:p>
            <a:pPr lvl="0"/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url </a:t>
            </a: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D4194F-9336-A3E3-CE53-1DF52E1719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816077"/>
            <a:ext cx="5181600" cy="53608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Races Table :-</a:t>
            </a:r>
          </a:p>
          <a:p>
            <a:pPr lvl="0"/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raceId — PRIMARY KEY </a:t>
            </a:r>
          </a:p>
          <a:p>
            <a:pPr lvl="0"/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year </a:t>
            </a:r>
          </a:p>
          <a:p>
            <a:pPr lvl="0"/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round </a:t>
            </a:r>
          </a:p>
          <a:p>
            <a:pPr lvl="0"/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circuitId — FOREIGN KEY → circuits(circuitId) </a:t>
            </a:r>
          </a:p>
          <a:p>
            <a:pPr lvl="0"/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name </a:t>
            </a:r>
          </a:p>
          <a:p>
            <a:pPr lvl="0"/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date </a:t>
            </a:r>
          </a:p>
          <a:p>
            <a:pPr lvl="0"/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time </a:t>
            </a:r>
          </a:p>
          <a:p>
            <a:pPr lvl="0"/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url </a:t>
            </a:r>
          </a:p>
          <a:p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4834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6A59CB-F8FE-A852-1320-50C127E43F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6813"/>
            <a:ext cx="5181600" cy="653845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500" b="1" dirty="0">
                <a:latin typeface="Cambria" panose="02040503050406030204" pitchFamily="18" charset="0"/>
                <a:ea typeface="Cambria" panose="02040503050406030204" pitchFamily="18" charset="0"/>
              </a:rPr>
              <a:t>Results Table :-</a:t>
            </a:r>
          </a:p>
          <a:p>
            <a:pPr lvl="0"/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  <a:t>resultId — PRIMARY KEY </a:t>
            </a:r>
          </a:p>
          <a:p>
            <a:pPr lvl="0"/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  <a:t>raceId — FOREIGN KEY → races(raceId) </a:t>
            </a:r>
          </a:p>
          <a:p>
            <a:pPr lvl="0"/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  <a:t>driverId — FOREIGN KEY → drivers(driverId) </a:t>
            </a:r>
          </a:p>
          <a:p>
            <a:pPr lvl="0"/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  <a:t>constructorId — FOREIGN KEY → constructors(constructorId) </a:t>
            </a:r>
          </a:p>
          <a:p>
            <a:pPr lvl="0"/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  <a:t>number </a:t>
            </a:r>
          </a:p>
          <a:p>
            <a:pPr lvl="0"/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  <a:t>grid </a:t>
            </a:r>
          </a:p>
          <a:p>
            <a:pPr lvl="0"/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  <a:t>position </a:t>
            </a:r>
          </a:p>
          <a:p>
            <a:pPr lvl="0"/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  <a:t>positionText </a:t>
            </a:r>
          </a:p>
          <a:p>
            <a:pPr lvl="0"/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  <a:t>positionOrder </a:t>
            </a:r>
          </a:p>
          <a:p>
            <a:pPr lvl="0"/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  <a:t>points </a:t>
            </a:r>
          </a:p>
          <a:p>
            <a:pPr lvl="0"/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  <a:t>laps </a:t>
            </a:r>
          </a:p>
          <a:p>
            <a:pPr lvl="0"/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  <a:t>time </a:t>
            </a:r>
          </a:p>
          <a:p>
            <a:pPr lvl="0"/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  <a:t>milliseconds </a:t>
            </a:r>
          </a:p>
          <a:p>
            <a:pPr lvl="0"/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  <a:t>fastestLap </a:t>
            </a:r>
          </a:p>
          <a:p>
            <a:pPr lvl="0"/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  <a:t>rank </a:t>
            </a:r>
          </a:p>
          <a:p>
            <a:pPr lvl="0"/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  <a:t>fastestLapTime  </a:t>
            </a:r>
          </a:p>
          <a:p>
            <a:pPr lvl="0"/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  <a:t>fastestLapSpeed </a:t>
            </a:r>
          </a:p>
          <a:p>
            <a:pPr lvl="0"/>
            <a:r>
              <a:rPr lang="en-IN" sz="1500" dirty="0">
                <a:latin typeface="Cambria" panose="02040503050406030204" pitchFamily="18" charset="0"/>
                <a:ea typeface="Cambria" panose="02040503050406030204" pitchFamily="18" charset="0"/>
              </a:rPr>
              <a:t>statusId </a:t>
            </a:r>
          </a:p>
          <a:p>
            <a:endParaRPr lang="en-IN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E0A0F6-579B-B4E6-0922-5AE38DB02E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0659"/>
            <a:ext cx="5181600" cy="40378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/>
              <a:t>Qualifying Table :-</a:t>
            </a:r>
          </a:p>
          <a:p>
            <a:pPr lvl="0"/>
            <a:r>
              <a:rPr lang="en-IN" sz="1800" dirty="0"/>
              <a:t>qualifyId — PRIMARY KEY </a:t>
            </a:r>
          </a:p>
          <a:p>
            <a:pPr lvl="0"/>
            <a:r>
              <a:rPr lang="en-IN" sz="1800" dirty="0"/>
              <a:t>raceId — FOREIGN KEY → races(raceId) </a:t>
            </a:r>
          </a:p>
          <a:p>
            <a:pPr lvl="0"/>
            <a:r>
              <a:rPr lang="en-IN" sz="1800" dirty="0"/>
              <a:t>driverId — FOREIGN KEY → drivers(driverId) </a:t>
            </a:r>
          </a:p>
          <a:p>
            <a:pPr lvl="0"/>
            <a:r>
              <a:rPr lang="en-IN" sz="1800" dirty="0"/>
              <a:t>constructorId — FOREIGN KEY → constructors(constructorId) </a:t>
            </a:r>
          </a:p>
          <a:p>
            <a:pPr lvl="0"/>
            <a:r>
              <a:rPr lang="en-IN" sz="1800" dirty="0"/>
              <a:t>number  </a:t>
            </a:r>
          </a:p>
          <a:p>
            <a:pPr lvl="0"/>
            <a:r>
              <a:rPr lang="en-IN" sz="1800" dirty="0"/>
              <a:t>position </a:t>
            </a:r>
          </a:p>
          <a:p>
            <a:pPr lvl="0"/>
            <a:r>
              <a:rPr lang="en-IN" sz="1800" dirty="0"/>
              <a:t>q1 </a:t>
            </a:r>
          </a:p>
          <a:p>
            <a:pPr lvl="0"/>
            <a:r>
              <a:rPr lang="en-IN" sz="1800" dirty="0"/>
              <a:t>q2 </a:t>
            </a:r>
          </a:p>
          <a:p>
            <a:pPr lvl="0"/>
            <a:r>
              <a:rPr lang="en-IN" sz="1800" dirty="0"/>
              <a:t>q3 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011374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BD4DC-8D77-3D29-16B8-00D2FEDCE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Georgia" panose="02040502050405020303" pitchFamily="18" charset="0"/>
              </a:rPr>
              <a:t>DATASET DESIGN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66019B29-394F-F383-4A0D-92F5B20676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555" y="1690688"/>
            <a:ext cx="10515600" cy="4584598"/>
          </a:xfrm>
          <a:prstGeom prst="rect">
            <a:avLst/>
          </a:prstGeom>
          <a:effectLst>
            <a:glow>
              <a:schemeClr val="accent1">
                <a:alpha val="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973120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2A5ED-5A43-08C2-97CA-E90C408F2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3401"/>
            <a:ext cx="10515600" cy="841928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en-IN" dirty="0">
                <a:latin typeface="Georgia" panose="02040502050405020303" pitchFamily="18" charset="0"/>
              </a:rPr>
              <a:t>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E5B42-622F-CF44-1F10-6B1AE543A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2674"/>
            <a:ext cx="4097594" cy="222526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2400" dirty="0"/>
              <a:t>CREATE</a:t>
            </a:r>
            <a:r>
              <a:rPr lang="en-IN" dirty="0"/>
              <a:t>:-</a:t>
            </a:r>
          </a:p>
          <a:p>
            <a:pPr marL="0" indent="0">
              <a:buNone/>
            </a:pPr>
            <a:r>
              <a:rPr lang="en-US" sz="1900" dirty="0"/>
              <a:t>create table driver_details</a:t>
            </a:r>
          </a:p>
          <a:p>
            <a:pPr marL="0" indent="0">
              <a:buNone/>
            </a:pPr>
            <a:r>
              <a:rPr lang="en-US" sz="1900" dirty="0"/>
              <a:t>(det_id int primary key,</a:t>
            </a:r>
          </a:p>
          <a:p>
            <a:pPr marL="0" indent="0">
              <a:buNone/>
            </a:pPr>
            <a:r>
              <a:rPr lang="en-US" sz="1900" dirty="0"/>
              <a:t>driver_id int not null,</a:t>
            </a:r>
          </a:p>
          <a:p>
            <a:pPr marL="0" indent="0">
              <a:buNone/>
            </a:pPr>
            <a:r>
              <a:rPr lang="en-US" sz="1900" dirty="0"/>
              <a:t>dri_status varchar(25),</a:t>
            </a:r>
          </a:p>
          <a:p>
            <a:pPr marL="0" indent="0">
              <a:buNone/>
            </a:pPr>
            <a:r>
              <a:rPr lang="en-US" sz="1900" dirty="0"/>
              <a:t>dri_note varchar(55));</a:t>
            </a:r>
            <a:endParaRPr lang="en-IN" sz="19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FC5869-2B18-6DDF-E5EB-07061A2BFCF3}"/>
              </a:ext>
            </a:extLst>
          </p:cNvPr>
          <p:cNvSpPr txBox="1"/>
          <p:nvPr/>
        </p:nvSpPr>
        <p:spPr>
          <a:xfrm>
            <a:off x="766917" y="3765693"/>
            <a:ext cx="4608871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/>
              <a:t>INSERT:-</a:t>
            </a:r>
          </a:p>
          <a:p>
            <a:r>
              <a:rPr lang="en-IN" dirty="0"/>
              <a:t>insert into driver_details </a:t>
            </a:r>
          </a:p>
          <a:p>
            <a:r>
              <a:rPr lang="en-IN" dirty="0"/>
              <a:t>(det_id, driver_id, dri_status, notes, experience_years)</a:t>
            </a:r>
          </a:p>
          <a:p>
            <a:r>
              <a:rPr lang="en-IN" dirty="0"/>
              <a:t>Values</a:t>
            </a:r>
          </a:p>
          <a:p>
            <a:r>
              <a:rPr lang="en-IN" dirty="0"/>
              <a:t>(1, 1, "Active", "Current Driver", 8),</a:t>
            </a:r>
          </a:p>
          <a:p>
            <a:r>
              <a:rPr lang="en-IN" dirty="0"/>
              <a:t>(2, 2, "Retired", "Former Driver", 12),</a:t>
            </a:r>
          </a:p>
          <a:p>
            <a:r>
              <a:rPr lang="en-IN" dirty="0"/>
              <a:t>(3, 3, "Retired", "Former Driver", 16);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B91DC80-13DD-6828-7376-0677BC618E2C}"/>
              </a:ext>
            </a:extLst>
          </p:cNvPr>
          <p:cNvSpPr txBox="1">
            <a:spLocks/>
          </p:cNvSpPr>
          <p:nvPr/>
        </p:nvSpPr>
        <p:spPr>
          <a:xfrm>
            <a:off x="5257800" y="2780808"/>
            <a:ext cx="5380703" cy="98488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sz="2600" dirty="0"/>
              <a:t>ALTER:-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300" dirty="0"/>
              <a:t>alter table driver_details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300" dirty="0"/>
              <a:t>add experience_years int;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ECFC49-95DB-FE8B-D12F-7F49B6402F3C}"/>
              </a:ext>
            </a:extLst>
          </p:cNvPr>
          <p:cNvSpPr txBox="1"/>
          <p:nvPr/>
        </p:nvSpPr>
        <p:spPr>
          <a:xfrm>
            <a:off x="5257800" y="1380327"/>
            <a:ext cx="609600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sz="2200" dirty="0"/>
              <a:t>RENAME:-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alter table driver_details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rename column dri_note to notes;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0D61F07-DF98-43E6-691E-B72A7E299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5788" y="4073373"/>
            <a:ext cx="5636341" cy="1754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306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7B00F-AFC6-9479-2801-D5F59C2C9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084" y="365125"/>
            <a:ext cx="10844981" cy="1325563"/>
          </a:xfrm>
        </p:spPr>
        <p:txBody>
          <a:bodyPr>
            <a:normAutofit/>
          </a:bodyPr>
          <a:lstStyle/>
          <a:p>
            <a:pPr algn="ctr"/>
            <a:r>
              <a:rPr lang="en-IN" sz="4200" dirty="0"/>
              <a:t>DATA MANIPULATION LANGUAGE (DML)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7D2B3DAA-89E3-861E-453E-B0BDD23198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7084" y="2485483"/>
            <a:ext cx="6250858" cy="147691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2400" dirty="0"/>
              <a:t>UPDATE:-</a:t>
            </a:r>
          </a:p>
          <a:p>
            <a:pPr marL="0" indent="0">
              <a:buNone/>
            </a:pPr>
            <a:r>
              <a:rPr lang="en-US" sz="1900" dirty="0"/>
              <a:t>update driver_details </a:t>
            </a:r>
          </a:p>
          <a:p>
            <a:pPr marL="0" indent="0">
              <a:buNone/>
            </a:pPr>
            <a:r>
              <a:rPr lang="en-US" sz="1900" dirty="0"/>
              <a:t>set experience_years= 9 </a:t>
            </a:r>
          </a:p>
          <a:p>
            <a:pPr marL="0" indent="0">
              <a:buNone/>
            </a:pPr>
            <a:r>
              <a:rPr lang="en-US" sz="1900" dirty="0"/>
              <a:t>where det_id=1;</a:t>
            </a:r>
            <a:endParaRPr lang="en-IN" sz="19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0C1E9C-79CE-F8F0-08F4-2D4784DD363B}"/>
              </a:ext>
            </a:extLst>
          </p:cNvPr>
          <p:cNvSpPr txBox="1"/>
          <p:nvPr/>
        </p:nvSpPr>
        <p:spPr>
          <a:xfrm>
            <a:off x="757084" y="4442564"/>
            <a:ext cx="6132871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/>
              <a:t>DELETE:-</a:t>
            </a:r>
            <a:br>
              <a:rPr lang="en-IN" dirty="0"/>
            </a:br>
            <a:r>
              <a:rPr lang="en-IN" dirty="0"/>
              <a:t>delete from driver_details </a:t>
            </a:r>
          </a:p>
          <a:p>
            <a:r>
              <a:rPr lang="en-IN" dirty="0"/>
              <a:t>where det_id=3;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5A2257-367A-0A26-59FE-6554DA4C57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5091" y="2451788"/>
            <a:ext cx="4591691" cy="10669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382FD75-CE14-7E30-2EA9-EF3D189892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5091" y="4442564"/>
            <a:ext cx="4686954" cy="82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344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0CA9D9B-0A61-4C3D-1207-95B61ECC5B65}"/>
              </a:ext>
            </a:extLst>
          </p:cNvPr>
          <p:cNvSpPr txBox="1"/>
          <p:nvPr/>
        </p:nvSpPr>
        <p:spPr>
          <a:xfrm>
            <a:off x="838200" y="1971994"/>
            <a:ext cx="44048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/>
              <a:t>TRUNCATE:-</a:t>
            </a:r>
            <a:br>
              <a:rPr lang="en-IN" dirty="0"/>
            </a:br>
            <a:r>
              <a:rPr lang="en-IN" dirty="0"/>
              <a:t>truncate table driver_details;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74ADAD-C277-ABB6-5A8D-F1ED91F725E3}"/>
              </a:ext>
            </a:extLst>
          </p:cNvPr>
          <p:cNvSpPr txBox="1"/>
          <p:nvPr/>
        </p:nvSpPr>
        <p:spPr>
          <a:xfrm>
            <a:off x="838200" y="3799209"/>
            <a:ext cx="43089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/>
              <a:t>DROP:-</a:t>
            </a:r>
          </a:p>
          <a:p>
            <a:r>
              <a:rPr lang="en-IN" dirty="0"/>
              <a:t>drop table driver_details;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7753656-6412-0705-3272-ED879AD8B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81649"/>
            <a:ext cx="4686953" cy="52394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36D4BB4-F56A-4375-5886-79D8273532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586486"/>
            <a:ext cx="10937810" cy="58542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6843016-C555-B290-40BB-8842B83187B9}"/>
              </a:ext>
            </a:extLst>
          </p:cNvPr>
          <p:cNvSpPr txBox="1"/>
          <p:nvPr/>
        </p:nvSpPr>
        <p:spPr>
          <a:xfrm>
            <a:off x="838200" y="530942"/>
            <a:ext cx="1026241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800" dirty="0">
                <a:latin typeface="Georgia" panose="02040502050405020303" pitchFamily="18" charset="0"/>
              </a:rPr>
              <a:t>DATA DEFINITION LANGUAGE (DDL)</a:t>
            </a:r>
            <a:endParaRPr lang="en-IN" sz="3800" dirty="0"/>
          </a:p>
        </p:txBody>
      </p:sp>
    </p:spTree>
    <p:extLst>
      <p:ext uri="{BB962C8B-B14F-4D97-AF65-F5344CB8AC3E}">
        <p14:creationId xmlns:p14="http://schemas.microsoft.com/office/powerpoint/2010/main" val="1971834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4337D-560B-BA23-2E9A-2F62129E8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DATA QUERY LANGUAGE (DQL)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1BB2ED-71A4-7F76-5110-EA17AA923758}"/>
              </a:ext>
            </a:extLst>
          </p:cNvPr>
          <p:cNvSpPr txBox="1"/>
          <p:nvPr/>
        </p:nvSpPr>
        <p:spPr>
          <a:xfrm>
            <a:off x="1564559" y="2215389"/>
            <a:ext cx="66355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/>
              <a:t>SELECT:-</a:t>
            </a:r>
          </a:p>
          <a:p>
            <a:r>
              <a:rPr lang="en-US" dirty="0"/>
              <a:t>Select driverId, forename, surname, nationality FROM drivers;</a:t>
            </a:r>
            <a:r>
              <a:rPr lang="en-IN" dirty="0"/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A5CCDA3-A8CE-F8E8-9D54-49D7EC7E74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4559" y="3127328"/>
            <a:ext cx="6153764" cy="327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0268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6CB19-F234-F856-671B-B6F71E652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E1DCD-F1CD-E429-2768-68CC1E226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152009"/>
            <a:ext cx="10515600" cy="923330"/>
          </a:xfrm>
        </p:spPr>
        <p:txBody>
          <a:bodyPr/>
          <a:lstStyle/>
          <a:p>
            <a:pPr algn="ctr"/>
            <a:r>
              <a:rPr lang="en-IN" dirty="0"/>
              <a:t>SQL CLAUSES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0956F2-621D-F8B0-5AD3-6DC67E7DDE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1041" y="1176327"/>
            <a:ext cx="4785852" cy="141901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200" dirty="0"/>
              <a:t>WHERE:-</a:t>
            </a:r>
          </a:p>
          <a:p>
            <a:pPr marL="0" indent="0">
              <a:buNone/>
            </a:pPr>
            <a:r>
              <a:rPr lang="en-US" sz="1800" dirty="0"/>
              <a:t>select driverId, forename, surname, nationality </a:t>
            </a:r>
          </a:p>
          <a:p>
            <a:pPr marL="0" indent="0">
              <a:buNone/>
            </a:pPr>
            <a:r>
              <a:rPr lang="en-US" sz="1800" dirty="0"/>
              <a:t>from drivers</a:t>
            </a:r>
          </a:p>
          <a:p>
            <a:pPr marL="0" indent="0">
              <a:buNone/>
            </a:pPr>
            <a:r>
              <a:rPr lang="en-US" sz="1800" dirty="0"/>
              <a:t>where nationality = 'British';</a:t>
            </a:r>
            <a:endParaRPr lang="en-IN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F957A3-4307-1CE7-06AB-A1568D5AB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066" y="3720651"/>
            <a:ext cx="3704734" cy="27563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F5C28A5-9153-BE85-824C-DC6C08BFD501}"/>
              </a:ext>
            </a:extLst>
          </p:cNvPr>
          <p:cNvSpPr txBox="1"/>
          <p:nvPr/>
        </p:nvSpPr>
        <p:spPr>
          <a:xfrm>
            <a:off x="591041" y="2687568"/>
            <a:ext cx="52763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INSIGHT</a:t>
            </a:r>
          </a:p>
          <a:p>
            <a:r>
              <a:rPr lang="en-IN" dirty="0"/>
              <a:t>This isolates British drivers and provides a focused view of their representation in the championship.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F99CB95-5824-04B5-1329-E6EDA805B762}"/>
              </a:ext>
            </a:extLst>
          </p:cNvPr>
          <p:cNvSpPr txBox="1">
            <a:spLocks/>
          </p:cNvSpPr>
          <p:nvPr/>
        </p:nvSpPr>
        <p:spPr>
          <a:xfrm>
            <a:off x="6333510" y="1181793"/>
            <a:ext cx="5207410" cy="1310865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sz="8800" dirty="0"/>
              <a:t>ORDER BY:-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7200" dirty="0"/>
              <a:t>select driverId, forename, surname, nationality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7200" dirty="0"/>
              <a:t>from drivers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7200" dirty="0"/>
              <a:t>order by surname asc;</a:t>
            </a:r>
            <a:endParaRPr lang="en-IN" sz="7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567534-230A-5CAD-4BA4-2F43AD41531E}"/>
              </a:ext>
            </a:extLst>
          </p:cNvPr>
          <p:cNvSpPr txBox="1"/>
          <p:nvPr/>
        </p:nvSpPr>
        <p:spPr>
          <a:xfrm>
            <a:off x="6333510" y="2696334"/>
            <a:ext cx="50931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INSIGHT</a:t>
            </a:r>
          </a:p>
          <a:p>
            <a:r>
              <a:rPr lang="en-IN" dirty="0"/>
              <a:t>Alphabetical ordering makes a large historical driver list easier to search and review.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8E5266A-595E-0EB1-2D88-8F22251952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8815" y="3720651"/>
            <a:ext cx="4254910" cy="2823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8302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3ACAA-DBAA-6F1A-AC24-5C7D9FA174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96593"/>
            <a:ext cx="4795684" cy="139935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200" dirty="0"/>
              <a:t>LIMIT:-</a:t>
            </a:r>
          </a:p>
          <a:p>
            <a:pPr marL="0" indent="0">
              <a:buNone/>
            </a:pPr>
            <a:r>
              <a:rPr lang="en-IN" sz="1800" dirty="0"/>
              <a:t>select driverId, forename, surname, nationality</a:t>
            </a:r>
          </a:p>
          <a:p>
            <a:pPr marL="0" indent="0">
              <a:buNone/>
            </a:pPr>
            <a:r>
              <a:rPr lang="en-IN" sz="1800" dirty="0"/>
              <a:t>from drivers</a:t>
            </a:r>
          </a:p>
          <a:p>
            <a:pPr marL="0" indent="0">
              <a:buNone/>
            </a:pPr>
            <a:r>
              <a:rPr lang="en-IN" sz="1800" dirty="0"/>
              <a:t>limit 5;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CD1146-3ED6-0855-E77C-9B26746F53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2637" y="658007"/>
            <a:ext cx="3381847" cy="12765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DB7E8A1-E3FD-982B-49F1-ABBD7A1C7E60}"/>
              </a:ext>
            </a:extLst>
          </p:cNvPr>
          <p:cNvSpPr txBox="1"/>
          <p:nvPr/>
        </p:nvSpPr>
        <p:spPr>
          <a:xfrm>
            <a:off x="838200" y="2222091"/>
            <a:ext cx="93305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INSIGHT</a:t>
            </a:r>
          </a:p>
          <a:p>
            <a:r>
              <a:rPr lang="en-IN" dirty="0"/>
              <a:t>Limiting the output provides a smaller sample for quickly inspecting a large dataset.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4F0F46-0092-EB4A-EE90-129192743F4D}"/>
              </a:ext>
            </a:extLst>
          </p:cNvPr>
          <p:cNvSpPr txBox="1"/>
          <p:nvPr/>
        </p:nvSpPr>
        <p:spPr>
          <a:xfrm>
            <a:off x="838200" y="3667432"/>
            <a:ext cx="629264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/>
              <a:t>OFFSET:-</a:t>
            </a:r>
          </a:p>
          <a:p>
            <a:r>
              <a:rPr lang="en-IN" dirty="0"/>
              <a:t>select driverId, forename, surname, nationality</a:t>
            </a:r>
          </a:p>
          <a:p>
            <a:r>
              <a:rPr lang="en-IN" dirty="0"/>
              <a:t>from drivers</a:t>
            </a:r>
          </a:p>
          <a:p>
            <a:r>
              <a:rPr lang="en-IN" dirty="0"/>
              <a:t>limit 5 offset 2;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5A7C5C8-0144-2D47-F20A-DAEDC82777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2637" y="3667432"/>
            <a:ext cx="3400900" cy="126700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8CBD100-A4D2-1469-5A3F-CEECA989C949}"/>
              </a:ext>
            </a:extLst>
          </p:cNvPr>
          <p:cNvSpPr txBox="1"/>
          <p:nvPr/>
        </p:nvSpPr>
        <p:spPr>
          <a:xfrm>
            <a:off x="838200" y="5266661"/>
            <a:ext cx="103312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INSIGHT</a:t>
            </a:r>
          </a:p>
          <a:p>
            <a:r>
              <a:rPr lang="en-IN" dirty="0"/>
              <a:t>This approach supports viewing data page by page. It skips the first 2 drivers and shows the next 5 drivers. </a:t>
            </a:r>
          </a:p>
        </p:txBody>
      </p:sp>
    </p:spTree>
    <p:extLst>
      <p:ext uri="{BB962C8B-B14F-4D97-AF65-F5344CB8AC3E}">
        <p14:creationId xmlns:p14="http://schemas.microsoft.com/office/powerpoint/2010/main" val="21692988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C1009-7ED0-AA40-A02F-C16C327E3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3165"/>
            <a:ext cx="10515600" cy="1031927"/>
          </a:xfrm>
        </p:spPr>
        <p:txBody>
          <a:bodyPr/>
          <a:lstStyle/>
          <a:p>
            <a:pPr algn="ctr"/>
            <a:r>
              <a:rPr lang="en-IN" dirty="0"/>
              <a:t>SQL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789F6-C885-F03C-453F-9B1BDC6D8F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5092"/>
            <a:ext cx="3920613" cy="148784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200" dirty="0"/>
              <a:t>AND:-</a:t>
            </a:r>
          </a:p>
          <a:p>
            <a:pPr marL="0" indent="0">
              <a:buNone/>
            </a:pPr>
            <a:r>
              <a:rPr lang="en-US" sz="1800" dirty="0"/>
              <a:t>select driverId, raceId, position, points</a:t>
            </a:r>
          </a:p>
          <a:p>
            <a:pPr marL="0" indent="0">
              <a:buNone/>
            </a:pPr>
            <a:r>
              <a:rPr lang="en-US" sz="1800" dirty="0"/>
              <a:t>from results</a:t>
            </a:r>
          </a:p>
          <a:p>
            <a:pPr marL="0" indent="0">
              <a:buNone/>
            </a:pPr>
            <a:r>
              <a:rPr lang="en-US" sz="1800" dirty="0"/>
              <a:t>where position &lt;= 5 and points &gt; 10;</a:t>
            </a:r>
            <a:endParaRPr lang="en-IN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6CE31A-0783-0CAB-E3A6-1CC82F9C55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3189" y="1305092"/>
            <a:ext cx="3920611" cy="16575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42D95A-B645-49F0-5731-3BF5B801EA29}"/>
              </a:ext>
            </a:extLst>
          </p:cNvPr>
          <p:cNvSpPr txBox="1"/>
          <p:nvPr/>
        </p:nvSpPr>
        <p:spPr>
          <a:xfrm>
            <a:off x="838200" y="2913613"/>
            <a:ext cx="87482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INSIGHT</a:t>
            </a:r>
          </a:p>
          <a:p>
            <a:r>
              <a:rPr lang="en-IN" dirty="0"/>
              <a:t>The query identifies drivers who achieved both a top-5 finish and a high points score.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BCCFF2-54ED-FBC1-7B8F-931D7EAAB414}"/>
              </a:ext>
            </a:extLst>
          </p:cNvPr>
          <p:cNvSpPr txBox="1"/>
          <p:nvPr/>
        </p:nvSpPr>
        <p:spPr>
          <a:xfrm>
            <a:off x="838200" y="4048202"/>
            <a:ext cx="5614219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/>
              <a:t>OR:-</a:t>
            </a:r>
          </a:p>
          <a:p>
            <a:r>
              <a:rPr lang="en-US" dirty="0"/>
              <a:t>select driverId, forename, surname, nationality</a:t>
            </a:r>
          </a:p>
          <a:p>
            <a:r>
              <a:rPr lang="en-US" dirty="0"/>
              <a:t>from drivers </a:t>
            </a:r>
          </a:p>
          <a:p>
            <a:r>
              <a:rPr lang="en-US" dirty="0"/>
              <a:t>where nationality = 'British' or nationality = 'German';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4BFC0C6-D770-A102-CF61-392155235A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3190" y="4048202"/>
            <a:ext cx="3920610" cy="165758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B0ADD30-3060-DA02-995E-B505B3B9E648}"/>
              </a:ext>
            </a:extLst>
          </p:cNvPr>
          <p:cNvSpPr txBox="1"/>
          <p:nvPr/>
        </p:nvSpPr>
        <p:spPr>
          <a:xfrm>
            <a:off x="838200" y="5507935"/>
            <a:ext cx="102230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INSIGHT</a:t>
            </a:r>
          </a:p>
          <a:p>
            <a:r>
              <a:rPr lang="en-IN" dirty="0"/>
              <a:t>The query brings together British and German drivers for comparison.</a:t>
            </a:r>
          </a:p>
        </p:txBody>
      </p:sp>
    </p:spTree>
    <p:extLst>
      <p:ext uri="{BB962C8B-B14F-4D97-AF65-F5344CB8AC3E}">
        <p14:creationId xmlns:p14="http://schemas.microsoft.com/office/powerpoint/2010/main" val="727979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6602F-AA23-47D1-C1FE-8F68F9282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099" y="329279"/>
            <a:ext cx="4726858" cy="187267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2400" dirty="0"/>
              <a:t>BETWEEN:-</a:t>
            </a:r>
          </a:p>
          <a:p>
            <a:pPr marL="0" indent="0">
              <a:buNone/>
            </a:pPr>
            <a:r>
              <a:rPr lang="en-US" sz="1900" dirty="0"/>
              <a:t>select raceId, year from races </a:t>
            </a:r>
          </a:p>
          <a:p>
            <a:pPr marL="0" indent="0">
              <a:buNone/>
            </a:pPr>
            <a:r>
              <a:rPr lang="en-US" sz="1900" dirty="0"/>
              <a:t>where year </a:t>
            </a:r>
          </a:p>
          <a:p>
            <a:pPr marL="0" indent="0">
              <a:buNone/>
            </a:pPr>
            <a:r>
              <a:rPr lang="en-US" sz="1900" dirty="0"/>
              <a:t>between 2010 and 2020</a:t>
            </a:r>
          </a:p>
          <a:p>
            <a:pPr marL="0" indent="0">
              <a:buNone/>
            </a:pPr>
            <a:r>
              <a:rPr lang="en-US" sz="1900" dirty="0"/>
              <a:t>order by year asc;</a:t>
            </a:r>
            <a:endParaRPr lang="en-IN" sz="19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A8B24B-BF93-C98E-BF51-CE8DCE91C367}"/>
              </a:ext>
            </a:extLst>
          </p:cNvPr>
          <p:cNvSpPr txBox="1"/>
          <p:nvPr/>
        </p:nvSpPr>
        <p:spPr>
          <a:xfrm>
            <a:off x="798870" y="3854008"/>
            <a:ext cx="520126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/>
              <a:t>IN:-</a:t>
            </a:r>
          </a:p>
          <a:p>
            <a:r>
              <a:rPr lang="en-US" dirty="0"/>
              <a:t>select driverId, raceId, position, points </a:t>
            </a:r>
            <a:br>
              <a:rPr lang="en-US" dirty="0"/>
            </a:br>
            <a:r>
              <a:rPr lang="en-US" dirty="0"/>
              <a:t>from results </a:t>
            </a:r>
            <a:br>
              <a:rPr lang="en-US" dirty="0"/>
            </a:br>
            <a:r>
              <a:rPr lang="en-US" dirty="0"/>
              <a:t>where position in (1, 2, 3);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802C8D-54B8-1DF8-86F1-B20BCA410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7998" y="96484"/>
            <a:ext cx="1996807" cy="333251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69390DD-57FB-8E9E-8542-025710C33F64}"/>
              </a:ext>
            </a:extLst>
          </p:cNvPr>
          <p:cNvSpPr txBox="1"/>
          <p:nvPr/>
        </p:nvSpPr>
        <p:spPr>
          <a:xfrm>
            <a:off x="798870" y="2357662"/>
            <a:ext cx="94561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INSIGHT</a:t>
            </a:r>
          </a:p>
          <a:p>
            <a:pPr>
              <a:buNone/>
            </a:pPr>
            <a:r>
              <a:rPr lang="en-IN" dirty="0"/>
              <a:t>The query focuses on races held between 2010 and 2020 for analysis.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934EFF1-F28C-6289-DA38-17DF69ADAD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9535" y="3989437"/>
            <a:ext cx="2927346" cy="215572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5C3FD6F-0D8F-A892-5FA4-49061FBA868E}"/>
              </a:ext>
            </a:extLst>
          </p:cNvPr>
          <p:cNvSpPr txBox="1"/>
          <p:nvPr/>
        </p:nvSpPr>
        <p:spPr>
          <a:xfrm>
            <a:off x="798870" y="5319576"/>
            <a:ext cx="77355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INSIGHT</a:t>
            </a:r>
            <a:br>
              <a:rPr lang="en-IN" dirty="0"/>
            </a:br>
            <a:r>
              <a:rPr lang="en-IN" dirty="0"/>
              <a:t>The query shows drivers who finished in the top 3 positions in a race.</a:t>
            </a:r>
          </a:p>
        </p:txBody>
      </p:sp>
    </p:spTree>
    <p:extLst>
      <p:ext uri="{BB962C8B-B14F-4D97-AF65-F5344CB8AC3E}">
        <p14:creationId xmlns:p14="http://schemas.microsoft.com/office/powerpoint/2010/main" val="5423375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CEB3A-E2E0-1E37-F39A-BF9CF57B70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710" y="412955"/>
            <a:ext cx="4972665" cy="15694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200" dirty="0"/>
              <a:t>LIKE:-</a:t>
            </a:r>
          </a:p>
          <a:p>
            <a:pPr marL="0" indent="0">
              <a:buNone/>
            </a:pPr>
            <a:r>
              <a:rPr lang="en-US" sz="1800" dirty="0"/>
              <a:t>select driverId, forename, surname </a:t>
            </a:r>
          </a:p>
          <a:p>
            <a:pPr marL="0" indent="0">
              <a:buNone/>
            </a:pPr>
            <a:r>
              <a:rPr lang="en-US" sz="1800" dirty="0"/>
              <a:t>from drivers </a:t>
            </a:r>
          </a:p>
          <a:p>
            <a:pPr marL="0" indent="0">
              <a:buNone/>
            </a:pPr>
            <a:r>
              <a:rPr lang="en-US" sz="1800" dirty="0"/>
              <a:t>where surname like '%a%';</a:t>
            </a:r>
            <a:endParaRPr lang="en-IN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B473FB-15DD-CE88-BAD7-69636FC6D5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9287" y="412955"/>
            <a:ext cx="3016532" cy="18189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BD6BCA6-0F01-21D4-A13D-938495763E3D}"/>
              </a:ext>
            </a:extLst>
          </p:cNvPr>
          <p:cNvSpPr txBox="1"/>
          <p:nvPr/>
        </p:nvSpPr>
        <p:spPr>
          <a:xfrm>
            <a:off x="749710" y="2231922"/>
            <a:ext cx="92005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INSIGHT</a:t>
            </a:r>
          </a:p>
          <a:p>
            <a:pPr>
              <a:buNone/>
            </a:pPr>
            <a:r>
              <a:rPr lang="en-IN" dirty="0"/>
              <a:t>Pattern matching makes it possible to find names without knowing the complete surname.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6C6F10-1813-0E74-156B-FE7BBD308F65}"/>
              </a:ext>
            </a:extLst>
          </p:cNvPr>
          <p:cNvSpPr txBox="1"/>
          <p:nvPr/>
        </p:nvSpPr>
        <p:spPr>
          <a:xfrm>
            <a:off x="749710" y="3429000"/>
            <a:ext cx="6096000" cy="1795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/>
              <a:t>IS NULL:-</a:t>
            </a:r>
            <a:br>
              <a:rPr lang="en-US" dirty="0"/>
            </a:br>
            <a:r>
              <a:rPr lang="en-US" dirty="0"/>
              <a:t>select driverId, driverRef, number</a:t>
            </a:r>
          </a:p>
          <a:p>
            <a:pPr>
              <a:lnSpc>
                <a:spcPct val="150000"/>
              </a:lnSpc>
            </a:pPr>
            <a:r>
              <a:rPr lang="en-US" dirty="0"/>
              <a:t> from drivers</a:t>
            </a:r>
          </a:p>
          <a:p>
            <a:pPr>
              <a:lnSpc>
                <a:spcPct val="150000"/>
              </a:lnSpc>
            </a:pPr>
            <a:r>
              <a:rPr lang="en-US" dirty="0"/>
              <a:t>where number is null;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6D02EF-58D2-51BF-5BFE-67163A4515A2}"/>
              </a:ext>
            </a:extLst>
          </p:cNvPr>
          <p:cNvSpPr txBox="1"/>
          <p:nvPr/>
        </p:nvSpPr>
        <p:spPr>
          <a:xfrm>
            <a:off x="749710" y="5451881"/>
            <a:ext cx="86400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INSIGHT</a:t>
            </a:r>
          </a:p>
          <a:p>
            <a:r>
              <a:rPr lang="en-IN" dirty="0"/>
              <a:t>The query identifies drivers whose car number information is missing in the dataset.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6DEEF30-99BA-54E7-8E77-253AE41596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9287" y="3464243"/>
            <a:ext cx="3016532" cy="1987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6919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67D4D-D857-EA49-1E67-52E86EE71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AGGREGATE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17DA7-250C-F137-21F6-3A25488F6A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54214" cy="7340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COUNT:-</a:t>
            </a:r>
            <a:br>
              <a:rPr lang="en-US" dirty="0"/>
            </a:br>
            <a:r>
              <a:rPr lang="en-US" sz="1800" dirty="0"/>
              <a:t>select count(*) as total_constructors from constructors;</a:t>
            </a:r>
            <a:endParaRPr lang="en-IN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85C576-7287-6C43-CB15-C4E80CF671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2620" y="1872737"/>
            <a:ext cx="2802272" cy="6398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237D264-0DB8-ED72-4CF9-8A58D3670945}"/>
              </a:ext>
            </a:extLst>
          </p:cNvPr>
          <p:cNvSpPr txBox="1"/>
          <p:nvPr/>
        </p:nvSpPr>
        <p:spPr>
          <a:xfrm>
            <a:off x="838200" y="4281451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/>
              <a:t>SUM:-</a:t>
            </a:r>
            <a:br>
              <a:rPr lang="en-IN" dirty="0"/>
            </a:br>
            <a:r>
              <a:rPr lang="en-IN" dirty="0"/>
              <a:t>select sum(points) as total_points from results;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46C9E38-781B-380B-F498-5AB1FA5726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2621" y="4281451"/>
            <a:ext cx="2802271" cy="63980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6B4C7BB-92FA-1089-323A-A2915FED544C}"/>
              </a:ext>
            </a:extLst>
          </p:cNvPr>
          <p:cNvSpPr txBox="1"/>
          <p:nvPr/>
        </p:nvSpPr>
        <p:spPr>
          <a:xfrm>
            <a:off x="838200" y="5129899"/>
            <a:ext cx="89768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INSIGHT</a:t>
            </a:r>
          </a:p>
          <a:p>
            <a:pPr>
              <a:buNone/>
            </a:pPr>
            <a:r>
              <a:rPr lang="en-IN" dirty="0"/>
              <a:t>The value represents the combined points recorded across all race-result records.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F126F8-7021-7093-FFA4-B10D90076EDE}"/>
              </a:ext>
            </a:extLst>
          </p:cNvPr>
          <p:cNvSpPr txBox="1"/>
          <p:nvPr/>
        </p:nvSpPr>
        <p:spPr>
          <a:xfrm>
            <a:off x="838200" y="2625313"/>
            <a:ext cx="78068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INSIGHT</a:t>
            </a:r>
          </a:p>
          <a:p>
            <a:pPr>
              <a:buNone/>
            </a:pPr>
            <a:r>
              <a:rPr lang="en-IN" dirty="0"/>
              <a:t>There are 212 constructors recorded in the selected dataset.</a:t>
            </a:r>
          </a:p>
        </p:txBody>
      </p:sp>
    </p:spTree>
    <p:extLst>
      <p:ext uri="{BB962C8B-B14F-4D97-AF65-F5344CB8AC3E}">
        <p14:creationId xmlns:p14="http://schemas.microsoft.com/office/powerpoint/2010/main" val="26375021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C214E-7630-683B-057C-69FD50872F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549" y="586758"/>
            <a:ext cx="6732639" cy="829085"/>
          </a:xfrm>
        </p:spPr>
        <p:txBody>
          <a:bodyPr/>
          <a:lstStyle/>
          <a:p>
            <a:pPr marL="0" indent="0">
              <a:buNone/>
            </a:pPr>
            <a:r>
              <a:rPr lang="en-US" sz="2200" dirty="0"/>
              <a:t>AVERAGE:-</a:t>
            </a:r>
          </a:p>
          <a:p>
            <a:pPr marL="0" indent="0">
              <a:buNone/>
            </a:pPr>
            <a:r>
              <a:rPr lang="en-US" sz="1800" dirty="0"/>
              <a:t>select avg(position) as average_qualifying_position from qualifying;</a:t>
            </a:r>
            <a:endParaRPr lang="en-IN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31EDE2-E540-38E9-EC00-5E49A94A88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6244" y="644161"/>
            <a:ext cx="2694039" cy="8290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A03256A-FF33-CF76-C59C-41C7036055E1}"/>
              </a:ext>
            </a:extLst>
          </p:cNvPr>
          <p:cNvSpPr txBox="1"/>
          <p:nvPr/>
        </p:nvSpPr>
        <p:spPr>
          <a:xfrm>
            <a:off x="700549" y="1415843"/>
            <a:ext cx="109900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INSIGHT</a:t>
            </a:r>
          </a:p>
          <a:p>
            <a:pPr>
              <a:buNone/>
            </a:pPr>
            <a:r>
              <a:rPr lang="en-IN" dirty="0"/>
              <a:t>The average gives an overall indication of the typical qualifying position across the available qualifying records.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D3FDC9-7C03-9F75-0BBA-76EC750CAD46}"/>
              </a:ext>
            </a:extLst>
          </p:cNvPr>
          <p:cNvSpPr txBox="1"/>
          <p:nvPr/>
        </p:nvSpPr>
        <p:spPr>
          <a:xfrm>
            <a:off x="700549" y="2509474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/>
              <a:t>MIN:-</a:t>
            </a:r>
            <a:br>
              <a:rPr lang="en-IN" dirty="0"/>
            </a:br>
            <a:r>
              <a:rPr lang="en-IN" dirty="0"/>
              <a:t>select min(year) as earliest_race_year from races;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B6F42F-FF2C-5C4D-EA71-EB69E7E0AAD3}"/>
              </a:ext>
            </a:extLst>
          </p:cNvPr>
          <p:cNvSpPr txBox="1"/>
          <p:nvPr/>
        </p:nvSpPr>
        <p:spPr>
          <a:xfrm>
            <a:off x="700549" y="3278915"/>
            <a:ext cx="83156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INSIGHT</a:t>
            </a:r>
          </a:p>
          <a:p>
            <a:pPr>
              <a:buNone/>
            </a:pPr>
            <a:r>
              <a:rPr lang="en-IN" dirty="0"/>
              <a:t>The value identifies the starting year of the race history available in the dataset.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CBC0CCB-4C72-912B-65E7-EC8876A213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6245" y="2746611"/>
            <a:ext cx="2694039" cy="70788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AA620C7-A06D-AC5E-B047-C1FA613BAD4E}"/>
              </a:ext>
            </a:extLst>
          </p:cNvPr>
          <p:cNvSpPr txBox="1"/>
          <p:nvPr/>
        </p:nvSpPr>
        <p:spPr>
          <a:xfrm>
            <a:off x="700549" y="4486572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/>
              <a:t>MAX:-</a:t>
            </a:r>
            <a:br>
              <a:rPr lang="en-IN" dirty="0"/>
            </a:br>
            <a:r>
              <a:rPr lang="en-IN" dirty="0"/>
              <a:t>select max(alt) as highest_circuit_altitude from circuits;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167D52-1542-9373-F764-0129C7A67E4B}"/>
              </a:ext>
            </a:extLst>
          </p:cNvPr>
          <p:cNvSpPr txBox="1"/>
          <p:nvPr/>
        </p:nvSpPr>
        <p:spPr>
          <a:xfrm>
            <a:off x="700549" y="5256013"/>
            <a:ext cx="77256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INSIGHT</a:t>
            </a:r>
          </a:p>
          <a:p>
            <a:pPr>
              <a:buNone/>
            </a:pPr>
            <a:r>
              <a:rPr lang="en-IN" dirty="0"/>
              <a:t>The value identifies the highest-altitude circuit represented in the dataset.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BFA44E3-50E6-FE4F-AA3E-55AE6F42D3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6245" y="4795827"/>
            <a:ext cx="2762865" cy="707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4361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12D6C-F972-F894-8050-7B82F74E8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813"/>
            <a:ext cx="10515600" cy="1130601"/>
          </a:xfrm>
        </p:spPr>
        <p:txBody>
          <a:bodyPr/>
          <a:lstStyle/>
          <a:p>
            <a:pPr algn="ctr"/>
            <a:r>
              <a:rPr lang="en-IN" dirty="0"/>
              <a:t>GROUP BY &amp; HAVING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606C0-8366-06A3-BAFF-8144CE9901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8590" y="1348600"/>
            <a:ext cx="7173861" cy="15441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GROUP BY:-</a:t>
            </a:r>
          </a:p>
          <a:p>
            <a:pPr marL="0" indent="0">
              <a:buNone/>
            </a:pPr>
            <a:r>
              <a:rPr lang="en-US" sz="1800" dirty="0"/>
              <a:t>select nationality, count(*) as total_constructors</a:t>
            </a:r>
          </a:p>
          <a:p>
            <a:pPr marL="0" indent="0">
              <a:buNone/>
            </a:pPr>
            <a:r>
              <a:rPr lang="en-US" sz="1800" dirty="0"/>
              <a:t>from constructors</a:t>
            </a:r>
          </a:p>
          <a:p>
            <a:pPr marL="0" indent="0">
              <a:buNone/>
            </a:pPr>
            <a:r>
              <a:rPr lang="en-US" sz="1800" dirty="0"/>
              <a:t>group by nationality;</a:t>
            </a:r>
            <a:endParaRPr lang="en-IN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910D23-8A8A-B414-E2D9-0BB49E2C14DE}"/>
              </a:ext>
            </a:extLst>
          </p:cNvPr>
          <p:cNvSpPr txBox="1"/>
          <p:nvPr/>
        </p:nvSpPr>
        <p:spPr>
          <a:xfrm>
            <a:off x="888591" y="2911647"/>
            <a:ext cx="78633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INSIGHT</a:t>
            </a:r>
          </a:p>
          <a:p>
            <a:pPr>
              <a:buNone/>
            </a:pPr>
            <a:r>
              <a:rPr lang="en-IN" dirty="0"/>
              <a:t>This gives the number of constructors represented by each nationality.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7DB4E8-8476-35D3-B076-86E8F2FAC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7709" y="1348600"/>
            <a:ext cx="2391109" cy="2080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5EFD418-8A8B-6222-DE26-6887475E0D62}"/>
              </a:ext>
            </a:extLst>
          </p:cNvPr>
          <p:cNvSpPr txBox="1"/>
          <p:nvPr/>
        </p:nvSpPr>
        <p:spPr>
          <a:xfrm>
            <a:off x="888590" y="3902327"/>
            <a:ext cx="6096000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/>
              <a:t>GROUP BY &amp; HAVING:-</a:t>
            </a:r>
            <a:br>
              <a:rPr lang="en-IN" dirty="0"/>
            </a:br>
            <a:r>
              <a:rPr lang="en-IN" dirty="0"/>
              <a:t>select nationality, count(*) as total_constructors</a:t>
            </a:r>
          </a:p>
          <a:p>
            <a:r>
              <a:rPr lang="en-IN" dirty="0"/>
              <a:t>from constructors</a:t>
            </a:r>
          </a:p>
          <a:p>
            <a:r>
              <a:rPr lang="en-IN" dirty="0"/>
              <a:t>group by nationality</a:t>
            </a:r>
          </a:p>
          <a:p>
            <a:r>
              <a:rPr lang="en-IN" dirty="0"/>
              <a:t>having count(*) &gt; 5;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D01CCAB-4329-6528-A905-0B11168FA3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709" y="3921079"/>
            <a:ext cx="2391109" cy="168330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177DEE5-14AA-3886-FD72-8451BBCC015D}"/>
              </a:ext>
            </a:extLst>
          </p:cNvPr>
          <p:cNvSpPr txBox="1"/>
          <p:nvPr/>
        </p:nvSpPr>
        <p:spPr>
          <a:xfrm>
            <a:off x="888590" y="5481145"/>
            <a:ext cx="86781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INSIGHT</a:t>
            </a:r>
          </a:p>
          <a:p>
            <a:pPr>
              <a:buNone/>
            </a:pPr>
            <a:r>
              <a:rPr lang="en-IN" dirty="0"/>
              <a:t>These nationalities have a larger representation of constructors.</a:t>
            </a:r>
          </a:p>
        </p:txBody>
      </p:sp>
    </p:spTree>
    <p:extLst>
      <p:ext uri="{BB962C8B-B14F-4D97-AF65-F5344CB8AC3E}">
        <p14:creationId xmlns:p14="http://schemas.microsoft.com/office/powerpoint/2010/main" val="11000033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F3DCD-012F-DE55-8E2F-F4F900381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STRING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656EC-4BB1-3C1D-9E23-2CBD9FF6BA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85619" cy="107489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2400" dirty="0"/>
              <a:t>CONCAT:-</a:t>
            </a:r>
          </a:p>
          <a:p>
            <a:pPr marL="0" indent="0">
              <a:buNone/>
            </a:pPr>
            <a:r>
              <a:rPr lang="en-US" sz="1900" dirty="0"/>
              <a:t>select concat(forename, ' ', surname) as driver_name</a:t>
            </a:r>
          </a:p>
          <a:p>
            <a:pPr marL="0" indent="0">
              <a:buNone/>
            </a:pPr>
            <a:r>
              <a:rPr lang="en-US" sz="1900" dirty="0"/>
              <a:t>from drivers;</a:t>
            </a:r>
            <a:endParaRPr lang="en-IN" sz="1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B5762D-B608-B837-ABF0-D796A9A952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9061" y="1690688"/>
            <a:ext cx="1714739" cy="18766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324C0AE-7F77-2248-DA48-AD6BF14C8046}"/>
              </a:ext>
            </a:extLst>
          </p:cNvPr>
          <p:cNvSpPr txBox="1"/>
          <p:nvPr/>
        </p:nvSpPr>
        <p:spPr>
          <a:xfrm>
            <a:off x="838200" y="2900516"/>
            <a:ext cx="83869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INSIGHT</a:t>
            </a:r>
          </a:p>
          <a:p>
            <a:pPr>
              <a:buNone/>
            </a:pPr>
            <a:r>
              <a:rPr lang="en-IN" dirty="0"/>
              <a:t>The driver's first name and surname are combined into a single readable name.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E21BE6-E6C1-8634-F717-F953E6DB2677}"/>
              </a:ext>
            </a:extLst>
          </p:cNvPr>
          <p:cNvSpPr txBox="1"/>
          <p:nvPr/>
        </p:nvSpPr>
        <p:spPr>
          <a:xfrm>
            <a:off x="838200" y="4110344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/>
              <a:t>LENGTH:-</a:t>
            </a:r>
            <a:br>
              <a:rPr lang="en-IN" dirty="0"/>
            </a:br>
            <a:r>
              <a:rPr lang="en-IN" dirty="0"/>
              <a:t>select name, length(name) as name_length from circuits;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CC5684F-7DE3-DC50-942E-D53F1DEFA6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8336" y="4110344"/>
            <a:ext cx="3210373" cy="183858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A808E57-7933-2A18-FAEC-866B58F4C452}"/>
              </a:ext>
            </a:extLst>
          </p:cNvPr>
          <p:cNvSpPr txBox="1"/>
          <p:nvPr/>
        </p:nvSpPr>
        <p:spPr>
          <a:xfrm>
            <a:off x="838200" y="4920062"/>
            <a:ext cx="71750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INSIGHT</a:t>
            </a:r>
          </a:p>
          <a:p>
            <a:pPr>
              <a:buNone/>
            </a:pPr>
            <a:r>
              <a:rPr lang="en-IN" dirty="0"/>
              <a:t>The output gives the number of characters in each circuit name.</a:t>
            </a:r>
          </a:p>
        </p:txBody>
      </p:sp>
    </p:spTree>
    <p:extLst>
      <p:ext uri="{BB962C8B-B14F-4D97-AF65-F5344CB8AC3E}">
        <p14:creationId xmlns:p14="http://schemas.microsoft.com/office/powerpoint/2010/main" val="9741883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4E61C-3815-C0B2-0362-E1B393EE4E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444" y="682919"/>
            <a:ext cx="5837903" cy="1603375"/>
          </a:xfrm>
        </p:spPr>
        <p:txBody>
          <a:bodyPr/>
          <a:lstStyle/>
          <a:p>
            <a:pPr marL="0" indent="0">
              <a:buNone/>
            </a:pPr>
            <a:r>
              <a:rPr lang="en-IN" sz="2200" dirty="0"/>
              <a:t>REPLACE:-</a:t>
            </a:r>
          </a:p>
          <a:p>
            <a:pPr marL="0" indent="0">
              <a:buNone/>
            </a:pPr>
            <a:r>
              <a:rPr lang="en-US" sz="1800" dirty="0"/>
              <a:t>select nationality, </a:t>
            </a:r>
          </a:p>
          <a:p>
            <a:pPr marL="0" indent="0">
              <a:buNone/>
            </a:pPr>
            <a:r>
              <a:rPr lang="en-US" sz="1800" dirty="0"/>
              <a:t>replace(nationality, 'British', 'UK') as updated_nationality</a:t>
            </a:r>
          </a:p>
          <a:p>
            <a:pPr marL="0" indent="0">
              <a:buNone/>
            </a:pPr>
            <a:r>
              <a:rPr lang="en-US" sz="1800" dirty="0"/>
              <a:t>from drivers;</a:t>
            </a:r>
            <a:endParaRPr lang="en-IN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063D15-7984-5A68-CCFD-A2666B08EA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8921" y="682919"/>
            <a:ext cx="2400635" cy="16575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BA186F9-A742-78E8-ED44-4B73B9A4EE7B}"/>
              </a:ext>
            </a:extLst>
          </p:cNvPr>
          <p:cNvSpPr txBox="1"/>
          <p:nvPr/>
        </p:nvSpPr>
        <p:spPr>
          <a:xfrm>
            <a:off x="982444" y="2448683"/>
            <a:ext cx="84459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INSIGHT</a:t>
            </a:r>
          </a:p>
          <a:p>
            <a:pPr>
              <a:buNone/>
            </a:pPr>
            <a:r>
              <a:rPr lang="en-IN" dirty="0"/>
              <a:t>British nationality values are displayed as UK without changing the original data.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CE7E8F-EB98-D0F4-E627-84267CD043A4}"/>
              </a:ext>
            </a:extLst>
          </p:cNvPr>
          <p:cNvSpPr txBox="1"/>
          <p:nvPr/>
        </p:nvSpPr>
        <p:spPr>
          <a:xfrm>
            <a:off x="982444" y="3762987"/>
            <a:ext cx="609600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/>
              <a:t>SUBSTRING:-</a:t>
            </a:r>
            <a:br>
              <a:rPr lang="en-IN" dirty="0"/>
            </a:br>
            <a:r>
              <a:rPr lang="en-IN" dirty="0"/>
              <a:t>select surname, substring(surname, 1, 3) as short_surname</a:t>
            </a:r>
          </a:p>
          <a:p>
            <a:r>
              <a:rPr lang="en-IN" dirty="0"/>
              <a:t>from drivers;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7F748A5-F5C4-2706-5B01-1EBC952FCA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8921" y="3762987"/>
            <a:ext cx="2152950" cy="167663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56E3FCB-9F03-BCD6-B51B-3466E3EA18CA}"/>
              </a:ext>
            </a:extLst>
          </p:cNvPr>
          <p:cNvSpPr txBox="1"/>
          <p:nvPr/>
        </p:nvSpPr>
        <p:spPr>
          <a:xfrm>
            <a:off x="982444" y="4954180"/>
            <a:ext cx="782647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INSIGHT</a:t>
            </a:r>
            <a:br>
              <a:rPr lang="en-IN" dirty="0"/>
            </a:br>
            <a:r>
              <a:rPr lang="en-IN" dirty="0"/>
              <a:t>The query extracts the first three characters from each driver's surname, giving a shortened version of the name.</a:t>
            </a:r>
          </a:p>
        </p:txBody>
      </p:sp>
    </p:spTree>
    <p:extLst>
      <p:ext uri="{BB962C8B-B14F-4D97-AF65-F5344CB8AC3E}">
        <p14:creationId xmlns:p14="http://schemas.microsoft.com/office/powerpoint/2010/main" val="25127089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FBC11-8375-AB77-5D1A-9D5C7F355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CONDITIONAL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9B370-7752-42BC-62CF-54E0C2CA5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76252" cy="34641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CASE:-</a:t>
            </a:r>
          </a:p>
          <a:p>
            <a:pPr marL="0" indent="0">
              <a:buNone/>
            </a:pPr>
            <a:r>
              <a:rPr lang="en-US" sz="1800" dirty="0"/>
              <a:t>select driverId, position,</a:t>
            </a:r>
          </a:p>
          <a:p>
            <a:pPr marL="0" indent="0">
              <a:buNone/>
            </a:pPr>
            <a:r>
              <a:rPr lang="en-US" sz="1800" dirty="0"/>
              <a:t>case    </a:t>
            </a:r>
          </a:p>
          <a:p>
            <a:pPr marL="0" indent="0">
              <a:buNone/>
            </a:pPr>
            <a:r>
              <a:rPr lang="en-US" sz="1800" dirty="0"/>
              <a:t>     when position = 1 then 'Winner'</a:t>
            </a:r>
          </a:p>
          <a:p>
            <a:pPr marL="0" indent="0">
              <a:buNone/>
            </a:pPr>
            <a:r>
              <a:rPr lang="en-US" sz="1800" dirty="0"/>
              <a:t>     when position &lt;= 3 then 'Top 3'</a:t>
            </a:r>
          </a:p>
          <a:p>
            <a:pPr marL="0" indent="0">
              <a:buNone/>
            </a:pPr>
            <a:r>
              <a:rPr lang="en-US" sz="1800" dirty="0"/>
              <a:t>     when position &lt;= 10 then 'Top 10'	</a:t>
            </a:r>
          </a:p>
          <a:p>
            <a:pPr marL="0" indent="0">
              <a:buNone/>
            </a:pPr>
            <a:r>
              <a:rPr lang="en-US" sz="1800" dirty="0"/>
              <a:t>     else 'Outside Top 10’</a:t>
            </a:r>
          </a:p>
          <a:p>
            <a:pPr marL="0" indent="0">
              <a:buNone/>
            </a:pPr>
            <a:r>
              <a:rPr lang="en-US" sz="1800" dirty="0"/>
              <a:t>end as result_category</a:t>
            </a:r>
          </a:p>
          <a:p>
            <a:pPr marL="0" indent="0">
              <a:buNone/>
            </a:pPr>
            <a:r>
              <a:rPr lang="en-US" sz="1800" dirty="0"/>
              <a:t>from results;</a:t>
            </a:r>
            <a:endParaRPr lang="en-IN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C79DEB-59AB-8C27-D111-83738E12A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4465" y="1825625"/>
            <a:ext cx="3314121" cy="23137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9C9B454-DCF1-AFB1-1EA5-7CED3F402872}"/>
              </a:ext>
            </a:extLst>
          </p:cNvPr>
          <p:cNvSpPr txBox="1"/>
          <p:nvPr/>
        </p:nvSpPr>
        <p:spPr>
          <a:xfrm>
            <a:off x="838199" y="5424692"/>
            <a:ext cx="109211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INSIGHT</a:t>
            </a:r>
          </a:p>
          <a:p>
            <a:pPr>
              <a:buNone/>
            </a:pPr>
            <a:r>
              <a:rPr lang="en-IN" dirty="0"/>
              <a:t>The finishing positions are divided into simple performance categories such as Winner, Top 3 and Top 10.</a:t>
            </a:r>
          </a:p>
        </p:txBody>
      </p:sp>
    </p:spTree>
    <p:extLst>
      <p:ext uri="{BB962C8B-B14F-4D97-AF65-F5344CB8AC3E}">
        <p14:creationId xmlns:p14="http://schemas.microsoft.com/office/powerpoint/2010/main" val="4744878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55B61-D125-8FF1-3D44-48D4CF8B2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JOINS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2E95D-19D5-E2E2-C682-281B6CEB06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354961" cy="184180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200" dirty="0"/>
              <a:t>INNER JOIN:-</a:t>
            </a:r>
          </a:p>
          <a:p>
            <a:pPr marL="0" indent="0">
              <a:buNone/>
            </a:pPr>
            <a:r>
              <a:rPr lang="en-IN" sz="1800" dirty="0"/>
              <a:t>select concat(d.forename, ' ', d.surname) as driver_name, r.raceId, r.position, r.points</a:t>
            </a:r>
          </a:p>
          <a:p>
            <a:pPr marL="0" indent="0">
              <a:buNone/>
            </a:pPr>
            <a:r>
              <a:rPr lang="en-IN" sz="1800" dirty="0"/>
              <a:t>from drivers d</a:t>
            </a:r>
          </a:p>
          <a:p>
            <a:pPr marL="0" indent="0">
              <a:buNone/>
            </a:pPr>
            <a:r>
              <a:rPr lang="en-IN" sz="1800" dirty="0"/>
              <a:t>inner join results r</a:t>
            </a:r>
          </a:p>
          <a:p>
            <a:pPr marL="0" indent="0">
              <a:buNone/>
            </a:pPr>
            <a:r>
              <a:rPr lang="en-IN" sz="1800" dirty="0"/>
              <a:t>on d.driverId = r.driverId;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3A87B6-4F34-1E65-1A0B-DEFF518F69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0816" y="2743378"/>
            <a:ext cx="3822984" cy="26932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849BF79-539E-C44B-5E7C-CE542EB1E5FA}"/>
              </a:ext>
            </a:extLst>
          </p:cNvPr>
          <p:cNvSpPr txBox="1"/>
          <p:nvPr/>
        </p:nvSpPr>
        <p:spPr>
          <a:xfrm>
            <a:off x="838200" y="4149200"/>
            <a:ext cx="6692616" cy="1287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INSIGHT</a:t>
            </a:r>
          </a:p>
          <a:p>
            <a:pPr>
              <a:lnSpc>
                <a:spcPct val="150000"/>
              </a:lnSpc>
              <a:buNone/>
            </a:pPr>
            <a:r>
              <a:rPr lang="en-IN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Driver information is connected with race performance, making individual results easier to interpret.</a:t>
            </a:r>
          </a:p>
        </p:txBody>
      </p:sp>
    </p:spTree>
    <p:extLst>
      <p:ext uri="{BB962C8B-B14F-4D97-AF65-F5344CB8AC3E}">
        <p14:creationId xmlns:p14="http://schemas.microsoft.com/office/powerpoint/2010/main" val="36141668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32C4C-40D3-1725-8C0D-CC4A300DC6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777461"/>
            <a:ext cx="7224252" cy="3038885"/>
          </a:xfrm>
        </p:spPr>
        <p:txBody>
          <a:bodyPr/>
          <a:lstStyle/>
          <a:p>
            <a:pPr marL="0" indent="0">
              <a:buNone/>
            </a:pPr>
            <a:r>
              <a:rPr lang="en-US" sz="2200" dirty="0"/>
              <a:t>LEFT JOIN:-</a:t>
            </a:r>
          </a:p>
          <a:p>
            <a:pPr marL="0" indent="0">
              <a:buNone/>
            </a:pPr>
            <a:r>
              <a:rPr lang="en-IN" sz="1800" dirty="0"/>
              <a:t>select d.driverId, d.forename as name, count(r.resultId) as total_results</a:t>
            </a:r>
          </a:p>
          <a:p>
            <a:pPr marL="0" indent="0">
              <a:buNone/>
            </a:pPr>
            <a:r>
              <a:rPr lang="en-IN" sz="1800" dirty="0"/>
              <a:t>from drivers d</a:t>
            </a:r>
          </a:p>
          <a:p>
            <a:pPr marL="0" indent="0">
              <a:buNone/>
            </a:pPr>
            <a:r>
              <a:rPr lang="en-IN" sz="1800" dirty="0"/>
              <a:t>left join results r    </a:t>
            </a:r>
          </a:p>
          <a:p>
            <a:pPr marL="0" indent="0">
              <a:buNone/>
            </a:pPr>
            <a:r>
              <a:rPr lang="en-IN" sz="1800" dirty="0"/>
              <a:t>  on d.driverId = r.driverId</a:t>
            </a:r>
          </a:p>
          <a:p>
            <a:pPr marL="0" indent="0">
              <a:buNone/>
            </a:pPr>
            <a:r>
              <a:rPr lang="en-IN" sz="1800" dirty="0"/>
              <a:t>group by d.forename</a:t>
            </a:r>
          </a:p>
          <a:p>
            <a:pPr marL="0" indent="0">
              <a:buNone/>
            </a:pPr>
            <a:r>
              <a:rPr lang="en-IN" sz="1800" dirty="0"/>
              <a:t>having count(r.resultId) &gt; 20</a:t>
            </a:r>
          </a:p>
          <a:p>
            <a:pPr marL="0" indent="0">
              <a:buNone/>
            </a:pPr>
            <a:r>
              <a:rPr lang="en-IN" sz="1800" dirty="0"/>
              <a:t>order by total_results desc;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E08504-4173-78E1-BEE6-611642D9599B}"/>
              </a:ext>
            </a:extLst>
          </p:cNvPr>
          <p:cNvSpPr txBox="1"/>
          <p:nvPr/>
        </p:nvSpPr>
        <p:spPr>
          <a:xfrm>
            <a:off x="838199" y="4247535"/>
            <a:ext cx="76077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INSIGHT</a:t>
            </a:r>
          </a:p>
          <a:p>
            <a:pPr>
              <a:buNone/>
            </a:pPr>
            <a:r>
              <a:rPr lang="en-IN" dirty="0"/>
              <a:t>The ranking highlights drivers with more than 20 recorded race results.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67DC7C-6971-D24D-C768-4D90A6E1C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1859" y="1334907"/>
            <a:ext cx="3441941" cy="2912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7581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7C638-66D3-1660-F193-AFBCCEDD7E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374" y="734244"/>
            <a:ext cx="7784691" cy="2694756"/>
          </a:xfrm>
        </p:spPr>
        <p:txBody>
          <a:bodyPr/>
          <a:lstStyle/>
          <a:p>
            <a:pPr marL="0" indent="0">
              <a:buNone/>
            </a:pPr>
            <a:r>
              <a:rPr lang="en-US" sz="2200" dirty="0"/>
              <a:t>RIGHT JOIN:-</a:t>
            </a:r>
          </a:p>
          <a:p>
            <a:pPr marL="0" indent="0">
              <a:buNone/>
            </a:pPr>
            <a:r>
              <a:rPr lang="en-IN" sz="1800" dirty="0"/>
              <a:t>select c.name as constructor_name, count(q.qualifyId) as qualifying_records</a:t>
            </a:r>
          </a:p>
          <a:p>
            <a:pPr marL="0" indent="0">
              <a:buNone/>
            </a:pPr>
            <a:r>
              <a:rPr lang="en-IN" sz="1800" dirty="0"/>
              <a:t>from constructors c</a:t>
            </a:r>
          </a:p>
          <a:p>
            <a:pPr marL="0" indent="0">
              <a:buNone/>
            </a:pPr>
            <a:r>
              <a:rPr lang="en-IN" sz="1800" dirty="0"/>
              <a:t>right join qualifying q    </a:t>
            </a:r>
          </a:p>
          <a:p>
            <a:pPr marL="0" indent="0">
              <a:buNone/>
            </a:pPr>
            <a:r>
              <a:rPr lang="en-IN" sz="1800" dirty="0"/>
              <a:t>   on c.constructorId = q.constructorId</a:t>
            </a:r>
          </a:p>
          <a:p>
            <a:pPr marL="0" indent="0">
              <a:buNone/>
            </a:pPr>
            <a:r>
              <a:rPr lang="en-IN" sz="1800" dirty="0"/>
              <a:t>group by c.constructorId, c.name</a:t>
            </a:r>
          </a:p>
          <a:p>
            <a:pPr marL="0" indent="0">
              <a:buNone/>
            </a:pPr>
            <a:r>
              <a:rPr lang="en-IN" sz="1800" dirty="0"/>
              <a:t>order by qualifying_records desc;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2388FF-4A28-73F6-C9DA-9CC0539177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1949" y="1542787"/>
            <a:ext cx="3330678" cy="277357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A8520BA-AE43-2992-ED39-F91F182CC398}"/>
              </a:ext>
            </a:extLst>
          </p:cNvPr>
          <p:cNvSpPr txBox="1"/>
          <p:nvPr/>
        </p:nvSpPr>
        <p:spPr>
          <a:xfrm>
            <a:off x="769373" y="4218490"/>
            <a:ext cx="7322576" cy="1287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dirty="0"/>
              <a:t>INSIGHT</a:t>
            </a:r>
          </a:p>
          <a:p>
            <a:pPr>
              <a:lnSpc>
                <a:spcPct val="150000"/>
              </a:lnSpc>
              <a:buNone/>
            </a:pPr>
            <a:r>
              <a:rPr lang="en-IN" dirty="0"/>
              <a:t>The ranking identifies constructors with the highest number of recorded qualifying results.</a:t>
            </a:r>
          </a:p>
        </p:txBody>
      </p:sp>
    </p:spTree>
    <p:extLst>
      <p:ext uri="{BB962C8B-B14F-4D97-AF65-F5344CB8AC3E}">
        <p14:creationId xmlns:p14="http://schemas.microsoft.com/office/powerpoint/2010/main" val="13924444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D5DCC-ECF3-3BC2-0615-2A11D58E8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WINDOW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B08F6-B269-3464-D2DA-9F7ACA0B56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31426" cy="1969627"/>
          </a:xfrm>
        </p:spPr>
        <p:txBody>
          <a:bodyPr/>
          <a:lstStyle/>
          <a:p>
            <a:pPr marL="0" indent="0">
              <a:buNone/>
            </a:pPr>
            <a:r>
              <a:rPr lang="en-US" sz="2200" dirty="0"/>
              <a:t>RANK:-</a:t>
            </a:r>
          </a:p>
          <a:p>
            <a:pPr marL="0" indent="0">
              <a:buNone/>
            </a:pPr>
            <a:r>
              <a:rPr lang="en-US" sz="1800" dirty="0"/>
              <a:t>select driverId, sum(points) as total_points,</a:t>
            </a:r>
          </a:p>
          <a:p>
            <a:pPr marL="0" indent="0">
              <a:buNone/>
            </a:pPr>
            <a:r>
              <a:rPr lang="en-US" sz="1800" dirty="0"/>
              <a:t>rank() over(order by sum(points) desc) as driver_rank</a:t>
            </a:r>
          </a:p>
          <a:p>
            <a:pPr marL="0" indent="0">
              <a:buNone/>
            </a:pPr>
            <a:r>
              <a:rPr lang="en-US" sz="1800" dirty="0"/>
              <a:t>from results</a:t>
            </a:r>
          </a:p>
          <a:p>
            <a:pPr marL="0" indent="0">
              <a:buNone/>
            </a:pPr>
            <a:r>
              <a:rPr lang="en-US" sz="1800" dirty="0"/>
              <a:t>group by driverId;</a:t>
            </a:r>
            <a:endParaRPr lang="en-IN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81DD21-D1CF-EE7F-DCCC-57F1409229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1305" y="1825625"/>
            <a:ext cx="2743583" cy="19147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A8DCE1F-4D23-3E4D-80F2-21F9D2EF92A6}"/>
              </a:ext>
            </a:extLst>
          </p:cNvPr>
          <p:cNvSpPr txBox="1"/>
          <p:nvPr/>
        </p:nvSpPr>
        <p:spPr>
          <a:xfrm>
            <a:off x="747252" y="4267652"/>
            <a:ext cx="6567948" cy="1287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dirty="0"/>
              <a:t>INSIGHT</a:t>
            </a:r>
          </a:p>
          <a:p>
            <a:pPr>
              <a:lnSpc>
                <a:spcPct val="150000"/>
              </a:lnSpc>
              <a:buNone/>
            </a:pPr>
            <a:r>
              <a:rPr lang="en-IN" dirty="0"/>
              <a:t>Drivers are ranked according to their overall points, with equal points receiving the same rank.</a:t>
            </a:r>
          </a:p>
        </p:txBody>
      </p:sp>
    </p:spTree>
    <p:extLst>
      <p:ext uri="{BB962C8B-B14F-4D97-AF65-F5344CB8AC3E}">
        <p14:creationId xmlns:p14="http://schemas.microsoft.com/office/powerpoint/2010/main" val="39859819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4C5BA-3373-7A1D-35AB-8C12277165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8871" y="626089"/>
            <a:ext cx="6742471" cy="188113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200" dirty="0"/>
              <a:t>DENSE RANK:-</a:t>
            </a:r>
          </a:p>
          <a:p>
            <a:pPr marL="0" indent="0">
              <a:buNone/>
            </a:pPr>
            <a:r>
              <a:rPr lang="en-US" sz="1800" dirty="0"/>
              <a:t>select constructorId, sum(points) as total_points,</a:t>
            </a:r>
          </a:p>
          <a:p>
            <a:pPr marL="0" indent="0">
              <a:buNone/>
            </a:pPr>
            <a:r>
              <a:rPr lang="en-US" sz="1800" dirty="0"/>
              <a:t>dense_rank() over(order by sum(points) desc) as constructor_rank</a:t>
            </a:r>
          </a:p>
          <a:p>
            <a:pPr marL="0" indent="0">
              <a:buNone/>
            </a:pPr>
            <a:r>
              <a:rPr lang="en-US" sz="1800" dirty="0"/>
              <a:t>from results</a:t>
            </a:r>
          </a:p>
          <a:p>
            <a:pPr marL="0" indent="0">
              <a:buNone/>
            </a:pPr>
            <a:r>
              <a:rPr lang="en-US" sz="1800" dirty="0"/>
              <a:t>group by constructorId;</a:t>
            </a:r>
            <a:endParaRPr lang="en-IN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080B90-03A7-8972-8B7D-980246385A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9861" y="630538"/>
            <a:ext cx="3353268" cy="18766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CCF052-84FE-6DD4-BBE4-79821F4E40CD}"/>
              </a:ext>
            </a:extLst>
          </p:cNvPr>
          <p:cNvSpPr txBox="1"/>
          <p:nvPr/>
        </p:nvSpPr>
        <p:spPr>
          <a:xfrm>
            <a:off x="798871" y="2507225"/>
            <a:ext cx="79444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INSIGHT</a:t>
            </a:r>
          </a:p>
          <a:p>
            <a:pPr>
              <a:buNone/>
            </a:pPr>
            <a:r>
              <a:rPr lang="en-IN" dirty="0"/>
              <a:t>Constructors receive a continuous ranking based on their total points.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A3AD9F-B991-CDB9-82FE-EDE761382E00}"/>
              </a:ext>
            </a:extLst>
          </p:cNvPr>
          <p:cNvSpPr txBox="1"/>
          <p:nvPr/>
        </p:nvSpPr>
        <p:spPr>
          <a:xfrm>
            <a:off x="798870" y="3704445"/>
            <a:ext cx="7745362" cy="1795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200" dirty="0"/>
              <a:t>PARTITION:-</a:t>
            </a:r>
            <a:br>
              <a:rPr lang="en-IN" dirty="0"/>
            </a:br>
            <a:r>
              <a:rPr lang="en-IN" dirty="0"/>
              <a:t>select driverId, raceId, points,</a:t>
            </a:r>
          </a:p>
          <a:p>
            <a:pPr>
              <a:lnSpc>
                <a:spcPct val="150000"/>
              </a:lnSpc>
            </a:pPr>
            <a:r>
              <a:rPr lang="en-IN" dirty="0"/>
              <a:t>sum(points)  over(partition by driverId order by raceId) as cumulative_points</a:t>
            </a:r>
          </a:p>
          <a:p>
            <a:pPr>
              <a:lnSpc>
                <a:spcPct val="150000"/>
              </a:lnSpc>
            </a:pPr>
            <a:r>
              <a:rPr lang="en-IN" dirty="0"/>
              <a:t>from results;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81C6D4E-6BFB-D917-C0C0-A08BEDE468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232" y="3705771"/>
            <a:ext cx="3362794" cy="187668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D89CB57-4DBE-2BDC-8F26-8734D440ECE3}"/>
              </a:ext>
            </a:extLst>
          </p:cNvPr>
          <p:cNvSpPr txBox="1"/>
          <p:nvPr/>
        </p:nvSpPr>
        <p:spPr>
          <a:xfrm>
            <a:off x="798870" y="5629657"/>
            <a:ext cx="84631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INSIGHT</a:t>
            </a:r>
          </a:p>
          <a:p>
            <a:pPr>
              <a:buNone/>
            </a:pPr>
            <a:r>
              <a:rPr lang="en-IN" dirty="0"/>
              <a:t>The cumulative value tracks how a driver's total points build up over their races.</a:t>
            </a:r>
          </a:p>
        </p:txBody>
      </p:sp>
    </p:spTree>
    <p:extLst>
      <p:ext uri="{BB962C8B-B14F-4D97-AF65-F5344CB8AC3E}">
        <p14:creationId xmlns:p14="http://schemas.microsoft.com/office/powerpoint/2010/main" val="7113589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329CD-8C14-8FEE-8BAD-DC021F6AB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SUBQUERIES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FFB92-1DD7-FFCC-86A3-077C1CFAB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651" y="2071431"/>
            <a:ext cx="4313903" cy="18516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select driverId, raceId, points </a:t>
            </a:r>
          </a:p>
          <a:p>
            <a:pPr marL="0" indent="0">
              <a:buNone/>
            </a:pPr>
            <a:r>
              <a:rPr lang="en-US" sz="1800" dirty="0"/>
              <a:t>from results</a:t>
            </a:r>
          </a:p>
          <a:p>
            <a:pPr marL="0" indent="0">
              <a:buNone/>
            </a:pPr>
            <a:r>
              <a:rPr lang="en-US" sz="1800" dirty="0"/>
              <a:t>where points = ( </a:t>
            </a:r>
          </a:p>
          <a:p>
            <a:pPr marL="0" indent="0">
              <a:buNone/>
            </a:pPr>
            <a:r>
              <a:rPr lang="en-US" sz="1800" dirty="0"/>
              <a:t>    select max(points)    </a:t>
            </a:r>
          </a:p>
          <a:p>
            <a:pPr marL="0" indent="0">
              <a:buNone/>
            </a:pPr>
            <a:r>
              <a:rPr lang="en-US" sz="1800" dirty="0"/>
              <a:t>    from results);</a:t>
            </a:r>
            <a:endParaRPr lang="en-IN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F813BE-3216-090E-979F-41FD1384F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057" y="2656450"/>
            <a:ext cx="3272292" cy="6816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17410AC-42C8-24B7-77A9-DF2810C12460}"/>
              </a:ext>
            </a:extLst>
          </p:cNvPr>
          <p:cNvSpPr txBox="1"/>
          <p:nvPr/>
        </p:nvSpPr>
        <p:spPr>
          <a:xfrm>
            <a:off x="1280651" y="4542955"/>
            <a:ext cx="92103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INSIGHT</a:t>
            </a:r>
          </a:p>
          <a:p>
            <a:pPr>
              <a:buNone/>
            </a:pPr>
            <a:r>
              <a:rPr lang="en-IN" dirty="0"/>
              <a:t>The output identifies the strongest individual points performance recorded in the dataset.</a:t>
            </a:r>
          </a:p>
        </p:txBody>
      </p:sp>
    </p:spTree>
    <p:extLst>
      <p:ext uri="{BB962C8B-B14F-4D97-AF65-F5344CB8AC3E}">
        <p14:creationId xmlns:p14="http://schemas.microsoft.com/office/powerpoint/2010/main" val="18559107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9BCFB-958C-E414-D694-9EE8BDE8AA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9309" y="1066083"/>
            <a:ext cx="5759245" cy="23629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select driverId, forename, surname</a:t>
            </a:r>
          </a:p>
          <a:p>
            <a:pPr marL="0" indent="0">
              <a:buNone/>
            </a:pPr>
            <a:r>
              <a:rPr lang="en-US" sz="1800" dirty="0"/>
              <a:t>from drivers</a:t>
            </a:r>
          </a:p>
          <a:p>
            <a:pPr marL="0" indent="0">
              <a:buNone/>
            </a:pPr>
            <a:r>
              <a:rPr lang="en-US" sz="1800" dirty="0"/>
              <a:t>where driverId in (    </a:t>
            </a:r>
          </a:p>
          <a:p>
            <a:pPr marL="0" indent="0">
              <a:buNone/>
            </a:pPr>
            <a:r>
              <a:rPr lang="en-US" sz="1800" dirty="0"/>
              <a:t>   select driverId    </a:t>
            </a:r>
          </a:p>
          <a:p>
            <a:pPr marL="0" indent="0">
              <a:buNone/>
            </a:pPr>
            <a:r>
              <a:rPr lang="en-US" sz="1800" dirty="0"/>
              <a:t>   from results   </a:t>
            </a:r>
          </a:p>
          <a:p>
            <a:pPr marL="0" indent="0">
              <a:buNone/>
            </a:pPr>
            <a:r>
              <a:rPr lang="en-US" sz="1800" dirty="0"/>
              <a:t>   where position = 1);</a:t>
            </a:r>
            <a:endParaRPr lang="en-IN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84762B-88AA-FA60-0975-77A927D47B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2768" y="949324"/>
            <a:ext cx="3119923" cy="25964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93DC122-CCEA-0494-BD20-AC56FC5F737A}"/>
              </a:ext>
            </a:extLst>
          </p:cNvPr>
          <p:cNvSpPr txBox="1"/>
          <p:nvPr/>
        </p:nvSpPr>
        <p:spPr>
          <a:xfrm>
            <a:off x="1359309" y="4228322"/>
            <a:ext cx="82074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INSIGHT</a:t>
            </a:r>
          </a:p>
          <a:p>
            <a:r>
              <a:rPr lang="en-IN" dirty="0"/>
              <a:t>The list contains drivers who have recorded at least one race victory.</a:t>
            </a:r>
          </a:p>
        </p:txBody>
      </p:sp>
    </p:spTree>
    <p:extLst>
      <p:ext uri="{BB962C8B-B14F-4D97-AF65-F5344CB8AC3E}">
        <p14:creationId xmlns:p14="http://schemas.microsoft.com/office/powerpoint/2010/main" val="32163341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8CC7E-B2F4-BBBB-4B3F-3F1EC77C8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VIEWS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893AA-5EE3-B444-ACBA-4877810FA4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2665" y="1825625"/>
            <a:ext cx="4933335" cy="2421910"/>
          </a:xfrm>
        </p:spPr>
        <p:txBody>
          <a:bodyPr/>
          <a:lstStyle/>
          <a:p>
            <a:pPr marL="0" indent="0">
              <a:buNone/>
            </a:pPr>
            <a:r>
              <a:rPr lang="en-IN" sz="2200" dirty="0"/>
              <a:t>CREATE VIEW:-</a:t>
            </a:r>
          </a:p>
          <a:p>
            <a:pPr marL="0" indent="0">
              <a:buNone/>
            </a:pPr>
            <a:r>
              <a:rPr lang="en-US" sz="1800" dirty="0"/>
              <a:t>create view constructor_information as</a:t>
            </a:r>
          </a:p>
          <a:p>
            <a:pPr marL="0" indent="0">
              <a:buNone/>
            </a:pPr>
            <a:r>
              <a:rPr lang="en-US" sz="1800" dirty="0"/>
              <a:t>select constructorId, name, nationality</a:t>
            </a:r>
          </a:p>
          <a:p>
            <a:pPr marL="0" indent="0">
              <a:buNone/>
            </a:pPr>
            <a:r>
              <a:rPr lang="en-US" sz="1800" dirty="0"/>
              <a:t>from constructors;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select * from constructor_information;</a:t>
            </a:r>
            <a:endParaRPr lang="en-IN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783571-6961-2988-9128-4849F1ECA9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2961" y="1825625"/>
            <a:ext cx="3476374" cy="253989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BBFDE44-4A36-98E3-4512-ABFFF2539C28}"/>
              </a:ext>
            </a:extLst>
          </p:cNvPr>
          <p:cNvSpPr txBox="1"/>
          <p:nvPr/>
        </p:nvSpPr>
        <p:spPr>
          <a:xfrm>
            <a:off x="1162664" y="4808426"/>
            <a:ext cx="87285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INSIGHT</a:t>
            </a:r>
          </a:p>
          <a:p>
            <a:pPr>
              <a:buNone/>
            </a:pPr>
            <a:r>
              <a:rPr lang="en-IN" dirty="0"/>
              <a:t>The view provides a simple reusable source for constructor information.</a:t>
            </a:r>
          </a:p>
        </p:txBody>
      </p:sp>
    </p:spTree>
    <p:extLst>
      <p:ext uri="{BB962C8B-B14F-4D97-AF65-F5344CB8AC3E}">
        <p14:creationId xmlns:p14="http://schemas.microsoft.com/office/powerpoint/2010/main" val="27821047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17BDB-50F5-FC85-2DDF-5A0B8826B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4119"/>
            <a:ext cx="10515600" cy="1325563"/>
          </a:xfrm>
        </p:spPr>
        <p:txBody>
          <a:bodyPr/>
          <a:lstStyle/>
          <a:p>
            <a:pPr algn="ctr"/>
            <a:r>
              <a:rPr lang="en-IN" dirty="0"/>
              <a:t>BUSINESS RECOMMENDATION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6FD164-2F4C-6B52-678C-1F6E4F0C2C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63277"/>
            <a:ext cx="10515600" cy="4351338"/>
          </a:xfrm>
        </p:spPr>
        <p:txBody>
          <a:bodyPr/>
          <a:lstStyle/>
          <a:p>
            <a:pPr lvl="0" algn="just"/>
            <a:r>
              <a:rPr lang="en-IN" sz="2200" dirty="0"/>
              <a:t>Focus on constructors with consistently high point totals to identify successful team strategies. </a:t>
            </a:r>
          </a:p>
          <a:p>
            <a:pPr lvl="0" algn="just"/>
            <a:r>
              <a:rPr lang="en-IN" sz="2200" dirty="0"/>
              <a:t>Analyze drivers who frequently gain positions after qualifying to understand race-day performance advantages. </a:t>
            </a:r>
          </a:p>
          <a:p>
            <a:pPr lvl="0" algn="just"/>
            <a:r>
              <a:rPr lang="en-IN" sz="2200" dirty="0"/>
              <a:t>Study high-activity circuits for historical performance trends. </a:t>
            </a:r>
          </a:p>
          <a:p>
            <a:pPr lvl="0" algn="just"/>
            <a:r>
              <a:rPr lang="en-IN" sz="2200" dirty="0"/>
              <a:t>Monitor season-wise rankings to evaluate long-term driver and constructor consistency. </a:t>
            </a:r>
          </a:p>
          <a:p>
            <a:pPr lvl="0" algn="just"/>
            <a:r>
              <a:rPr lang="en-IN" sz="2200" dirty="0"/>
              <a:t>Use qualifying versus race-result analysis to measure driver effectiveness under race conditions.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23615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45963-F679-8768-C0D8-E5591E607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2944"/>
            <a:ext cx="10515600" cy="1325563"/>
          </a:xfrm>
        </p:spPr>
        <p:txBody>
          <a:bodyPr/>
          <a:lstStyle/>
          <a:p>
            <a:pPr algn="ctr"/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1D260-AD3D-5392-FF1A-C3DBCC509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20594"/>
            <a:ext cx="10515600" cy="4034400"/>
          </a:xfrm>
        </p:spPr>
        <p:txBody>
          <a:bodyPr>
            <a:normAutofit/>
          </a:bodyPr>
          <a:lstStyle/>
          <a:p>
            <a:pPr lvl="0" algn="just"/>
            <a:r>
              <a:rPr lang="en-IN" sz="2200" dirty="0"/>
              <a:t>Successfully analyzed Formula 1 historical data using SQL. </a:t>
            </a:r>
          </a:p>
          <a:p>
            <a:pPr lvl="0" algn="just"/>
            <a:r>
              <a:rPr lang="en-IN" sz="2200" dirty="0"/>
              <a:t>Used six related Kaggle tables for the analysis. </a:t>
            </a:r>
          </a:p>
          <a:p>
            <a:pPr lvl="0" algn="just"/>
            <a:r>
              <a:rPr lang="en-IN" sz="2200" dirty="0"/>
              <a:t>Compared drivers, constructors, races, circuits and qualifying performance. </a:t>
            </a:r>
          </a:p>
          <a:p>
            <a:pPr lvl="0" algn="just"/>
            <a:r>
              <a:rPr lang="en-IN" sz="2200" dirty="0"/>
              <a:t>Applied SQL concepts from basic to advanced levels. </a:t>
            </a:r>
          </a:p>
          <a:p>
            <a:pPr lvl="0" algn="just"/>
            <a:r>
              <a:rPr lang="en-IN" sz="2200" dirty="0"/>
              <a:t>Generated meaningful insights from race and performance data. </a:t>
            </a:r>
          </a:p>
          <a:p>
            <a:pPr lvl="0" algn="just"/>
            <a:r>
              <a:rPr lang="en-IN" sz="2200" dirty="0"/>
              <a:t>Demonstrated how SQL can turn Formula 1 historical data into useful information for analysis and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27695179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Georg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930</TotalTime>
  <Words>1884</Words>
  <Application>Microsoft Office PowerPoint</Application>
  <PresentationFormat>Widescreen</PresentationFormat>
  <Paragraphs>314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Cambria</vt:lpstr>
      <vt:lpstr>Georgia</vt:lpstr>
      <vt:lpstr>Office Theme</vt:lpstr>
      <vt:lpstr>FORMULA 1 WORLD CHAMPIONSHIP (1950 - 2024) USING SQL</vt:lpstr>
      <vt:lpstr>PROJECT OBJECTIVE</vt:lpstr>
      <vt:lpstr>DATASET DESIGN DATASET NAME:- World Championship (1950-2024) dataset TOTAL RECORDS:- 38,650 </vt:lpstr>
      <vt:lpstr>PowerPoint Presentation</vt:lpstr>
      <vt:lpstr>PowerPoint Presentation</vt:lpstr>
      <vt:lpstr>DATASET DESIGN</vt:lpstr>
      <vt:lpstr>QUERIES</vt:lpstr>
      <vt:lpstr>DATA MANIPULATION LANGUAGE (DML)</vt:lpstr>
      <vt:lpstr>PowerPoint Presentation</vt:lpstr>
      <vt:lpstr>DATA QUERY LANGUAGE (DQL)</vt:lpstr>
      <vt:lpstr>SQL CLAUSES</vt:lpstr>
      <vt:lpstr>PowerPoint Presentation</vt:lpstr>
      <vt:lpstr>SQL OPERATORS</vt:lpstr>
      <vt:lpstr>PowerPoint Presentation</vt:lpstr>
      <vt:lpstr>PowerPoint Presentation</vt:lpstr>
      <vt:lpstr>AGGREGATE FUNCTIONS</vt:lpstr>
      <vt:lpstr>PowerPoint Presentation</vt:lpstr>
      <vt:lpstr>GROUP BY &amp; HAVING</vt:lpstr>
      <vt:lpstr>STRING FUNCTIONS</vt:lpstr>
      <vt:lpstr>PowerPoint Presentation</vt:lpstr>
      <vt:lpstr>CONDITIONAL FUNCTIONS</vt:lpstr>
      <vt:lpstr>JOINS</vt:lpstr>
      <vt:lpstr>PowerPoint Presentation</vt:lpstr>
      <vt:lpstr>PowerPoint Presentation</vt:lpstr>
      <vt:lpstr>WINDOW FUNCTIONS</vt:lpstr>
      <vt:lpstr>PowerPoint Presentation</vt:lpstr>
      <vt:lpstr>SUBQUERIES</vt:lpstr>
      <vt:lpstr>PowerPoint Presentation</vt:lpstr>
      <vt:lpstr>VIEWS</vt:lpstr>
      <vt:lpstr>BUSINESS RECOMMENDATION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Monik Diwani</dc:creator>
  <cp:lastModifiedBy>Monik Diwani</cp:lastModifiedBy>
  <cp:revision>70</cp:revision>
  <dcterms:created xsi:type="dcterms:W3CDTF">2026-08-09T13:21:00Z</dcterms:created>
  <dcterms:modified xsi:type="dcterms:W3CDTF">2026-08-20T17:53:18Z</dcterms:modified>
</cp:coreProperties>
</file>